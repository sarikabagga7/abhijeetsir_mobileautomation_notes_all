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Cormorant Garamond"/>
      <p:regular r:id="rId55"/>
      <p:bold r:id="rId56"/>
      <p:italic r:id="rId57"/>
      <p:boldItalic r:id="rId58"/>
    </p:embeddedFont>
    <p:embeddedFont>
      <p:font typeface="Roboto"/>
      <p:regular r:id="rId59"/>
      <p:bold r:id="rId60"/>
      <p:italic r:id="rId61"/>
      <p:boldItalic r:id="rId62"/>
    </p:embeddedFont>
    <p:embeddedFont>
      <p:font typeface="Roboto Mon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7" roundtripDataSignature="AMtx7mhsrGPCAIiALz4R6w7FY/MyI8eW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BD1571-0926-4A40-B249-41C4C24D311A}">
  <a:tblStyle styleId="{69BD1571-0926-4A40-B249-41C4C24D31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.fntdata"/><Relationship Id="rId63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66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65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customschemas.google.com/relationships/presentationmetadata" Target="metadata"/><Relationship Id="rId60" Type="http://schemas.openxmlformats.org/officeDocument/2006/relationships/font" Target="fonts/Robot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CormorantGaramond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CormorantGaramond-italic.fntdata"/><Relationship Id="rId12" Type="http://schemas.openxmlformats.org/officeDocument/2006/relationships/slide" Target="slides/slide6.xml"/><Relationship Id="rId56" Type="http://schemas.openxmlformats.org/officeDocument/2006/relationships/font" Target="fonts/CormorantGaramond-bold.fntdata"/><Relationship Id="rId15" Type="http://schemas.openxmlformats.org/officeDocument/2006/relationships/slide" Target="slides/slide9.xml"/><Relationship Id="rId59" Type="http://schemas.openxmlformats.org/officeDocument/2006/relationships/font" Target="fonts/Roboto-regular.fntdata"/><Relationship Id="rId14" Type="http://schemas.openxmlformats.org/officeDocument/2006/relationships/slide" Target="slides/slide8.xml"/><Relationship Id="rId58" Type="http://schemas.openxmlformats.org/officeDocument/2006/relationships/font" Target="fonts/CormorantGaramon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0872b7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0872b7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0872b7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a0872b7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0872b79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a0872b79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a0872b7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a0872b7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a0872b79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a0872b79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a0872b7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a0872b7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0f111bc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80f111b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0f111bc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80f111bc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80f111bc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80f111bc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0872b79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a0872b79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0872b79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a0872b79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80f111b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80f111b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80f111bc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80f111b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80f111bc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80f111b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80f111bc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80f111b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a173004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a173004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a1730047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a1730047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a173004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a173004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a1730047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a1730047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9c797be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9c797be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9c797bee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9c797be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c797bee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9c797bee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9c797bee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9c797bee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9c797bee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9c797bee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a2db7c7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a2db7c7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a2db7c76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a2db7c7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a2db7c76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a2db7c7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a2db7c76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a2db7c76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a2db7c7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a2db7c7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a2db7c7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a2db7c7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a7947d9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a7947d9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a7947d97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a7947d97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a7947d97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a7947d97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a7947d97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a7947d97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a7947d97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a7947d97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a7947d97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a7947d97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a7947d97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a7947d97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3c467c8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3c467c8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3c467c8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3c467c8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a0872b79a_0_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g39a0872b79a_0_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g39a0872b79a_0_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ppium.github.io/appium.io/docs/en/writing-running-appium/android/android-mobile-gesture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eveloper.chrome.com/docs/chromedriver/downloads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749155" y="1972075"/>
            <a:ext cx="58767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Appium Architecture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/>
          <p:nvPr/>
        </p:nvSpPr>
        <p:spPr>
          <a:xfrm>
            <a:off x="61726" y="733128"/>
            <a:ext cx="8747731" cy="2364189"/>
          </a:xfrm>
          <a:custGeom>
            <a:rect b="b" l="l" r="r" t="t"/>
            <a:pathLst>
              <a:path extrusionOk="0" h="3990193" w="15346897">
                <a:moveTo>
                  <a:pt x="0" y="0"/>
                </a:moveTo>
                <a:lnTo>
                  <a:pt x="15346897" y="0"/>
                </a:lnTo>
                <a:lnTo>
                  <a:pt x="15346897" y="3990193"/>
                </a:lnTo>
                <a:lnTo>
                  <a:pt x="0" y="39901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" name="Google Shape;60;p2"/>
          <p:cNvSpPr txBox="1"/>
          <p:nvPr/>
        </p:nvSpPr>
        <p:spPr>
          <a:xfrm>
            <a:off x="728660" y="1742606"/>
            <a:ext cx="20319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6"/>
              <a:buFont typeface="Arial"/>
              <a:buNone/>
            </a:pPr>
            <a:r>
              <a:rPr b="0" i="0" lang="en" sz="11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W3C WebDriver protocol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2314819" y="2715864"/>
            <a:ext cx="1778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6"/>
              <a:buFont typeface="Arial"/>
              <a:buNone/>
            </a:pPr>
            <a:r>
              <a:rPr b="0" i="0" lang="en" sz="13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Appium Server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900584" y="1480052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b="0" i="0" lang="en" sz="1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XCUITest Engine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868409" y="3084445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b="0" i="0" lang="en" sz="1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UiAutomator2 Engine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412020" y="1642652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b="0" i="0" lang="en" sz="1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iPhone/Simulator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7330624" y="3247045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b="0" i="0" lang="en" sz="1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Android Phone/Emulator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49220" y="3510873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Components: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826" lvl="1" marL="595293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Appium Client – your code written in Java, Python, etc.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826" lvl="1" marL="595293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Appium Server – a light-weight node.js server file.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826" lvl="1" marL="595293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Appium Drivers – UiAutomator2/XCUITest converting WebDriver commands to platform-native commands.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385" lvl="1" marL="617364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Device under Test (D.U.T) – Physical Device/Emulator/Simulator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/>
        </p:nvSpPr>
        <p:spPr>
          <a:xfrm>
            <a:off x="1749155" y="1972075"/>
            <a:ext cx="58767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Launching a Pre-installed App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/>
        </p:nvSpPr>
        <p:spPr>
          <a:xfrm>
            <a:off x="371450" y="431825"/>
            <a:ext cx="83109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get your emulator details?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 emulator -list-avds  #returns a list of avds created using Device Manager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 adb devices            #returns a list of UDIDs of running emulators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/>
        </p:nvSpPr>
        <p:spPr>
          <a:xfrm>
            <a:off x="371450" y="431825"/>
            <a:ext cx="86139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get your app details?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arenR"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Keep your app open.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arenR"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 adb shell using the below command: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 adb shell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arenR"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Run the below command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 dumpsys window windows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   Or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 dumpsys window windows | grep -E 'Window #'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200" u="sng">
                <a:solidFill>
                  <a:schemeClr val="dk2"/>
                </a:solidFill>
              </a:rPr>
              <a:t>Note:</a:t>
            </a:r>
            <a:r>
              <a:rPr lang="en" sz="1200">
                <a:solidFill>
                  <a:schemeClr val="dk2"/>
                </a:solidFill>
              </a:rPr>
              <a:t> If the launchable activity found previously does not work then use below command to find only launchable activity: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$ cmd package resolve-activity com.saucelabs.mydemoapp.android</a:t>
            </a:r>
            <a:endParaRPr sz="600">
              <a:solidFill>
                <a:srgbClr val="E0E0E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556300" y="424975"/>
            <a:ext cx="81912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//Step 1: Define your criteria to search for a device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UiAutomator2Options options = new UiAutomator2Options();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options.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setAvd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("Pixel_7"); //find the name using “emulator -list-avds” command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//Step 2: Connect to the Appium server along with the search criteria 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AndroidDriver driver = new AndroidDriver(new URL("http://127.0.0.1:4723"), options);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//Step 3: Launch the app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 appActivity = "com.swaglabsmobileapp";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 activity = "com.swaglabsmobileapp.MainActivity";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 launchableActivity = appActivity + "/" + activity;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Map&lt;String, Object&gt; params = new HashMap&lt;&gt;();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params.put("intent", activity);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driver.executeScript("mobile: startActivity", params);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556300" y="424975"/>
            <a:ext cx="8191200" cy="4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to use which option?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UiAutomator2Options options = new UiAutomator2Options();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//Option 1: to launch an emulator and connect to it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options.setAvd("Pixel_7");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//Option 2: to connect to an already running emulator/physical device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options.setUdid("emulator-5556");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//Options 3: to connect to a physical device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options.setDeviceName(“OnePlus 8”);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physical device keep your developer options -&gt; usb debugging mode enabled.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device name as shown in Settings -&gt; About Phone.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/>
        </p:nvSpPr>
        <p:spPr>
          <a:xfrm>
            <a:off x="1749155" y="1972075"/>
            <a:ext cx="58767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Launching an app using .apk file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/>
        </p:nvSpPr>
        <p:spPr>
          <a:xfrm>
            <a:off x="354975" y="424975"/>
            <a:ext cx="85248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//Step 1: Define your criteria to search for a device along with .apk file details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UiAutomator2Options options = new UiAutomator2Options();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options.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setAvd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("Pixel_7");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options.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setApp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(System.getProperty("user.dir") </a:t>
            </a:r>
            <a:r>
              <a:rPr b="0" i="0" lang="en" sz="1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"src/test/resources/ApiDemos-debug.apk");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options.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setAppPackage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("io.appium.android.apis");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options.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setAppActivity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("io.appium.android.apis.ApiDemos");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//Step 2: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 to the Appium server along with the search criteria 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AppiumDriver driver = new AndroidDriver(new URL("http://127.0.0.1:4723"), options);</a:t>
            </a:r>
            <a:endParaRPr b="0" i="0" sz="1000" u="none" cap="none" strike="noStrike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a0872b79a_0_0"/>
          <p:cNvSpPr txBox="1"/>
          <p:nvPr/>
        </p:nvSpPr>
        <p:spPr>
          <a:xfrm>
            <a:off x="3211675" y="1972075"/>
            <a:ext cx="3235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Finding Elements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0872b79a_0_4"/>
          <p:cNvSpPr txBox="1"/>
          <p:nvPr/>
        </p:nvSpPr>
        <p:spPr>
          <a:xfrm>
            <a:off x="162850" y="362225"/>
            <a:ext cx="87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WebElement element = driver.findElement(AppiumBy locator);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List&lt;WebElement&gt; elementList = driver.findElements(AppiumBy locator);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2" name="Google Shape;112;g39a0872b79a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363" y="1478879"/>
            <a:ext cx="620077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a0872b79a_0_9"/>
          <p:cNvSpPr txBox="1"/>
          <p:nvPr/>
        </p:nvSpPr>
        <p:spPr>
          <a:xfrm>
            <a:off x="1754742" y="1980131"/>
            <a:ext cx="5497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Locator Strategies in Android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g39a0872b79a_0_13"/>
          <p:cNvGraphicFramePr/>
          <p:nvPr/>
        </p:nvGraphicFramePr>
        <p:xfrm>
          <a:off x="152400" y="514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{69BD1571-0926-4A40-B249-41C4C24D311A}</a:tableStyleId>
              </a:tblPr>
              <a:tblGrid>
                <a:gridCol w="2262925"/>
                <a:gridCol w="3000400"/>
                <a:gridCol w="35733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Strategy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Corresponding Attribute in Appium Inspector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Description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00"/>
                          </a:highlight>
                        </a:rPr>
                        <a:t>AppiumBy.id("...")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resource-id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This is the fastest. 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 be used when the element is same in both android and ios.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However, may not always be unique.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00"/>
                          </a:highlight>
                        </a:rPr>
                        <a:t>AppiumBy.accessibilityId("...");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content-desc (in android)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name (in ios)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This is also as fast as id.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To be used when the element is same in both android and ios.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AppiumBy.className(“...”)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class-name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Using the class of an element.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AppiumBy.xpath("...")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uses the DOM of the page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Basic syntax: //tag[@attribute=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'</a:t>
                      </a:r>
                      <a:r>
                        <a:rPr lang="en" sz="1000"/>
                        <a:t>value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'</a:t>
                      </a:r>
                      <a:r>
                        <a:rPr lang="en" sz="1000"/>
                        <a:t>] 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E.g: //android.widget.RadioButton[@text='India']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Not recommended to use.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00"/>
                          </a:highlight>
                        </a:rPr>
                        <a:t>AppiumBy.androidUIAutomator("...")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for all attributes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Developed by Android developers for Android apps only.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g39a0872b79a_0_13"/>
          <p:cNvSpPr txBox="1"/>
          <p:nvPr/>
        </p:nvSpPr>
        <p:spPr>
          <a:xfrm>
            <a:off x="152400" y="4121550"/>
            <a:ext cx="463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Question: Which is the best locator?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Google Shape;128;g39a0872b79a_0_18"/>
          <p:cNvGraphicFramePr/>
          <p:nvPr/>
        </p:nvGraphicFramePr>
        <p:xfrm>
          <a:off x="226230" y="140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{69BD1571-0926-4A40-B249-41C4C24D311A}</a:tableStyleId>
              </a:tblPr>
              <a:tblGrid>
                <a:gridCol w="5430475"/>
                <a:gridCol w="382850"/>
                <a:gridCol w="2558825"/>
              </a:tblGrid>
              <a:tr h="302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Android UiAutomator scripts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Comments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UiSelector().resourceId(\"...\");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for resource-id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UiSelector().text(\"...\");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for text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UiSelector().textContains(\"...\");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UiSelector().textStartsWith(\"...\");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UiSelector().description(\"...\");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for content-desc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UiSelector().descriptionContains(\"...\");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UiSelector().descriptionStartsWith(\"...\");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UiSelector().className(\"...\");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for class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UiSelector().checked(true/false);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other properties that accept boolean args.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UiSelector().clickable(true/false);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UiSelector().enabled(true/false);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UiSelector().scrollable(true/false);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new UiSelector().selected(true/false);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g39a0872b79a_0_2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{69BD1571-0926-4A40-B249-41C4C24D311A}</a:tableStyleId>
              </a:tblPr>
              <a:tblGrid>
                <a:gridCol w="5705475"/>
                <a:gridCol w="382850"/>
                <a:gridCol w="2560200"/>
              </a:tblGrid>
              <a:tr h="1619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Android UiAutomator scripts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Comments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7810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new UiSelector().description(\"...\").text(\"...\");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Combining multiple attributes - Chaining of selectors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new UiSelector().className("android:id/navigationBarBackground").instance(2)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using instance in UiSelector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Refers to the N-th occurrence of a matching element globally across the entire view hierarchy.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Useful when you're matching multiple elements anywhere on the screen with the same attributes.</a:t>
                      </a:r>
                      <a:endParaRPr sz="9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Not limited to siblings.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new UiSelector().resourceId("parent_id").childSelector(new UiSelector().text("Child Text"));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using parent-child relation in UiSelector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80f111bcf_0_65"/>
          <p:cNvSpPr txBox="1"/>
          <p:nvPr/>
        </p:nvSpPr>
        <p:spPr>
          <a:xfrm>
            <a:off x="509625" y="370425"/>
            <a:ext cx="67950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Xpath Syntax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/tagname1/tagname2[@attribute=’value’]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//tagname[@attribute=’value’]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a80f111bcf_0_6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{69BD1571-0926-4A40-B249-41C4C24D311A}</a:tableStyleId>
              </a:tblPr>
              <a:tblGrid>
                <a:gridCol w="5705475"/>
                <a:gridCol w="382850"/>
                <a:gridCol w="2560200"/>
              </a:tblGrid>
              <a:tr h="1619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Sample Xpath syntax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Comments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799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//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android.widget.TextView</a:t>
                      </a:r>
                      <a:r>
                        <a:rPr lang="en" sz="1200"/>
                        <a:t>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resource-id</a:t>
                      </a:r>
                      <a:r>
                        <a:rPr lang="en" sz="1200"/>
                        <a:t>=’value’]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Generic syntax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//android.widget.TextView[contains(@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resource-id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, ‘value’)]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Using partial attribute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//android.widget.TextView[starts-with(@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resource-id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, ‘value’)]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Using partial attribute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=‘value’]/android.widget.EditText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Navigating to child element from a parent element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5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resource-id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=‘value1’ and 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=‘value2’]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Using and operator for multiple values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resource-id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=‘value1’ or 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=‘value2’]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Using or operator for multiple values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g3a80f111bcf_0_7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{69BD1571-0926-4A40-B249-41C4C24D311A}</a:tableStyleId>
              </a:tblPr>
              <a:tblGrid>
                <a:gridCol w="5705475"/>
                <a:gridCol w="382850"/>
                <a:gridCol w="2560200"/>
              </a:tblGrid>
              <a:tr h="1619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Sample Xpath syntax using Xpath Axes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Comments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//android.widget.TextView[@text='current-element']/ancestor::android.widget.NumberPicker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ancestor elements (parent, grandparent, etc.) of the context node, up to the root element.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//android.widget.TextView[@class='parent-element']/descendant::android.widget.NumberPicker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descendant elements (children, grandchildren, etc.) of the context node.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//android.widget.TextView[@resource-id='current-item']/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following-sibling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::android.widget.NumberPicker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sibling elements that appear after the context node and share the same parent.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//android.widget.TextView[@resource-id='current-item']/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preceding-sibling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::android.widget.NumberPicker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sibling elements that appear before the context node and share the same parent.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a0872b79a_0_75"/>
          <p:cNvSpPr txBox="1"/>
          <p:nvPr/>
        </p:nvSpPr>
        <p:spPr>
          <a:xfrm>
            <a:off x="1754742" y="1980131"/>
            <a:ext cx="5497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Basic Actions on Elements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0872b79a_0_79"/>
          <p:cNvSpPr txBox="1"/>
          <p:nvPr/>
        </p:nvSpPr>
        <p:spPr>
          <a:xfrm>
            <a:off x="305575" y="1261300"/>
            <a:ext cx="870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WebElement element = driver.findElement(AppiumBy locator);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element.click();                                       //click on an element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element.sendKeys(“Hello World”);         //enter text inside a textbox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element.getAttribute(“text”);                   //get the attribute of an element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element.isDisplayed();                           //return true if element diplayed on screen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80f111bcf_0_0"/>
          <p:cNvSpPr txBox="1"/>
          <p:nvPr/>
        </p:nvSpPr>
        <p:spPr>
          <a:xfrm>
            <a:off x="2874572" y="1947175"/>
            <a:ext cx="311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Waits in Appium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a80f111bcf_0_4"/>
          <p:cNvPicPr preferRelativeResize="0"/>
          <p:nvPr/>
        </p:nvPicPr>
        <p:blipFill rotWithShape="1">
          <a:blip r:embed="rId3">
            <a:alphaModFix/>
          </a:blip>
          <a:srcRect b="8727" l="0" r="0" t="2752"/>
          <a:stretch/>
        </p:blipFill>
        <p:spPr>
          <a:xfrm>
            <a:off x="525675" y="794125"/>
            <a:ext cx="8001501" cy="335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g3a80f111bcf_0_4"/>
          <p:cNvCxnSpPr/>
          <p:nvPr/>
        </p:nvCxnSpPr>
        <p:spPr>
          <a:xfrm rot="10800000">
            <a:off x="832650" y="585575"/>
            <a:ext cx="208500" cy="13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g3a80f111bcf_0_4"/>
          <p:cNvSpPr txBox="1"/>
          <p:nvPr/>
        </p:nvSpPr>
        <p:spPr>
          <a:xfrm>
            <a:off x="36600" y="113075"/>
            <a:ext cx="246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Applies globally to the entire driver session. You set it </a:t>
            </a:r>
            <a:r>
              <a:rPr i="1" lang="en" sz="800">
                <a:solidFill>
                  <a:schemeClr val="dk1"/>
                </a:solidFill>
              </a:rPr>
              <a:t>once</a:t>
            </a:r>
            <a:r>
              <a:rPr lang="en" sz="800">
                <a:solidFill>
                  <a:schemeClr val="dk1"/>
                </a:solidFill>
              </a:rPr>
              <a:t>, and every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findElement()</a:t>
            </a:r>
            <a:r>
              <a:rPr lang="en" sz="800">
                <a:solidFill>
                  <a:schemeClr val="dk1"/>
                </a:solidFill>
              </a:rPr>
              <a:t> will wait up to that time.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171" name="Google Shape;171;g3a80f111bcf_0_4"/>
          <p:cNvCxnSpPr/>
          <p:nvPr/>
        </p:nvCxnSpPr>
        <p:spPr>
          <a:xfrm flipH="1" rot="10800000">
            <a:off x="7248300" y="810575"/>
            <a:ext cx="435000" cy="12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g3a80f111bcf_0_4"/>
          <p:cNvSpPr txBox="1"/>
          <p:nvPr/>
        </p:nvSpPr>
        <p:spPr>
          <a:xfrm>
            <a:off x="6900075" y="406225"/>
            <a:ext cx="21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Applies only to specific elements/actions for a given condition.</a:t>
            </a:r>
            <a:endParaRPr sz="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a80f111bcf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03" y="942800"/>
            <a:ext cx="8868251" cy="29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80f111bcf_0_16"/>
          <p:cNvSpPr txBox="1"/>
          <p:nvPr/>
        </p:nvSpPr>
        <p:spPr>
          <a:xfrm>
            <a:off x="555400" y="278115"/>
            <a:ext cx="79287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Implicit Wait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driver.manage().timeouts().implicitlyWait(Duration.ofSeconds(5));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Explicit Wait - WebDriverWait (default polling of 500ms)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WebDriverWait wait = new WebDriverWait(driver, Duration.ofSeconds(5));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wait.until(ExpectedConditions.visibilityOfElementLocated(targetLocator));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Explicit Wait - FluentWait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FluentWait&lt;AppiumDriver&gt; wait = new FluentWait&lt;&gt;(driver)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              .withTimeout(Duration.ofSeconds(20))          // max wait time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              .pollingEvery(Duration.ofSeconds(1))           // check every X seconds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              .ignoring(NoSuchElementException.class); 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wait.until(ExpectedConditions.visibilityOfElementLocated(targetLocator));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Note: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If element not found within specified timeout then TimeoutException is thrown.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a17300475_0_0"/>
          <p:cNvSpPr txBox="1"/>
          <p:nvPr/>
        </p:nvSpPr>
        <p:spPr>
          <a:xfrm>
            <a:off x="2682500" y="1980125"/>
            <a:ext cx="45882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Android Mobile Gestures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a17300475_0_4"/>
          <p:cNvSpPr txBox="1"/>
          <p:nvPr/>
        </p:nvSpPr>
        <p:spPr>
          <a:xfrm>
            <a:off x="379775" y="146990"/>
            <a:ext cx="7928700" cy="3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There are different gestures that can be performed in mobile apps: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Click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Double Click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Long Click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Drag and Drop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Scroll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and many more…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Reference: </a:t>
            </a:r>
            <a:r>
              <a:rPr lang="en" sz="1450" u="sng">
                <a:solidFill>
                  <a:schemeClr val="hlink"/>
                </a:solidFill>
                <a:hlinkClick r:id="rId3"/>
              </a:rPr>
              <a:t>https://appium.github.io/appium.io/docs/en/writing-running-appium/android/android-mobile-gestures/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a17300475_0_8"/>
          <p:cNvSpPr txBox="1"/>
          <p:nvPr/>
        </p:nvSpPr>
        <p:spPr>
          <a:xfrm>
            <a:off x="920375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Android Mobile Gestures: Click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a17300475_0_12"/>
          <p:cNvSpPr txBox="1"/>
          <p:nvPr/>
        </p:nvSpPr>
        <p:spPr>
          <a:xfrm>
            <a:off x="379775" y="98100"/>
            <a:ext cx="7928700" cy="53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//Click using id of an element (Element-only click)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WebElement element = driver.findElement(locator);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HashMap&lt;String, Object&gt;();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((RemoteWebElement)element).getId());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driver.executeScript("</a:t>
            </a:r>
            <a:r>
              <a:rPr b="1" lang="en" sz="1250">
                <a:solidFill>
                  <a:schemeClr val="dk1"/>
                </a:solidFill>
              </a:rPr>
              <a:t>mobile: clickGesture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//Click using center co-ords of an element (Coordinate-only click)</a:t>
            </a:r>
            <a:endParaRPr b="1"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WebElement element = driver.findElement(locator);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int startX = element.getLocation().getX();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int startY = element.getLocation().getY();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int centerX = startX + element.getSize().getWidth()/2;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int centerY = startY + element.getSize().getHeight()/2;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HashMap&lt;String, int&gt;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params.put("x", centerX);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params.put("y", centerY);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driver.executeScript("</a:t>
            </a:r>
            <a:r>
              <a:rPr b="1" lang="en" sz="1250">
                <a:solidFill>
                  <a:schemeClr val="dk1"/>
                </a:solidFill>
              </a:rPr>
              <a:t>mobile: clickGesture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10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</p:txBody>
      </p:sp>
      <p:sp>
        <p:nvSpPr>
          <p:cNvPr id="203" name="Google Shape;203;g39a17300475_0_12"/>
          <p:cNvSpPr/>
          <p:nvPr/>
        </p:nvSpPr>
        <p:spPr>
          <a:xfrm>
            <a:off x="6003500" y="3225900"/>
            <a:ext cx="1789500" cy="82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Button</a:t>
            </a:r>
            <a:endParaRPr b="1"/>
          </a:p>
        </p:txBody>
      </p:sp>
      <p:sp>
        <p:nvSpPr>
          <p:cNvPr id="204" name="Google Shape;204;g39a17300475_0_12"/>
          <p:cNvSpPr/>
          <p:nvPr/>
        </p:nvSpPr>
        <p:spPr>
          <a:xfrm>
            <a:off x="5893700" y="3132575"/>
            <a:ext cx="225000" cy="208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" name="Google Shape;205;g39a17300475_0_12"/>
          <p:cNvCxnSpPr>
            <a:endCxn id="204" idx="7"/>
          </p:cNvCxnSpPr>
          <p:nvPr/>
        </p:nvCxnSpPr>
        <p:spPr>
          <a:xfrm flipH="1">
            <a:off x="6085750" y="2479409"/>
            <a:ext cx="697200" cy="68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6" name="Google Shape;206;g39a17300475_0_12"/>
          <p:cNvSpPr txBox="1"/>
          <p:nvPr/>
        </p:nvSpPr>
        <p:spPr>
          <a:xfrm>
            <a:off x="6717094" y="2166550"/>
            <a:ext cx="1591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startX, startY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07" name="Google Shape;207;g39a17300475_0_12"/>
          <p:cNvCxnSpPr/>
          <p:nvPr/>
        </p:nvCxnSpPr>
        <p:spPr>
          <a:xfrm>
            <a:off x="6266975" y="4235921"/>
            <a:ext cx="1114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g39a17300475_0_12"/>
          <p:cNvSpPr txBox="1"/>
          <p:nvPr/>
        </p:nvSpPr>
        <p:spPr>
          <a:xfrm>
            <a:off x="6486561" y="4148108"/>
            <a:ext cx="8178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width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09" name="Google Shape;209;g39a17300475_0_12"/>
          <p:cNvCxnSpPr/>
          <p:nvPr/>
        </p:nvCxnSpPr>
        <p:spPr>
          <a:xfrm rot="10800000">
            <a:off x="8001600" y="3242425"/>
            <a:ext cx="0" cy="79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g39a17300475_0_12"/>
          <p:cNvSpPr txBox="1"/>
          <p:nvPr/>
        </p:nvSpPr>
        <p:spPr>
          <a:xfrm>
            <a:off x="8077161" y="3536133"/>
            <a:ext cx="8178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height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1" name="Google Shape;211;g39a17300475_0_12"/>
          <p:cNvSpPr/>
          <p:nvPr/>
        </p:nvSpPr>
        <p:spPr>
          <a:xfrm>
            <a:off x="6885975" y="3533400"/>
            <a:ext cx="225000" cy="208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g39a17300475_0_12"/>
          <p:cNvCxnSpPr>
            <a:endCxn id="211" idx="5"/>
          </p:cNvCxnSpPr>
          <p:nvPr/>
        </p:nvCxnSpPr>
        <p:spPr>
          <a:xfrm rot="10800000">
            <a:off x="7078025" y="3711366"/>
            <a:ext cx="797400" cy="88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g39a17300475_0_12"/>
          <p:cNvSpPr txBox="1"/>
          <p:nvPr/>
        </p:nvSpPr>
        <p:spPr>
          <a:xfrm>
            <a:off x="6935377" y="4498221"/>
            <a:ext cx="2142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centerX, centerY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9c797bee5_0_0"/>
          <p:cNvSpPr txBox="1"/>
          <p:nvPr/>
        </p:nvSpPr>
        <p:spPr>
          <a:xfrm>
            <a:off x="920375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Android Mobile Gestures: Scroll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9c797bee5_0_4"/>
          <p:cNvSpPr txBox="1"/>
          <p:nvPr/>
        </p:nvSpPr>
        <p:spPr>
          <a:xfrm>
            <a:off x="275475" y="481825"/>
            <a:ext cx="84891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 (#1) Scroll using UiScrollable (recommended but for Android apps only)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By locator = AppiumBy.</a:t>
            </a:r>
            <a:r>
              <a:rPr b="1" lang="en" sz="1250">
                <a:solidFill>
                  <a:schemeClr val="dk1"/>
                </a:solidFill>
              </a:rPr>
              <a:t>androidUIAutomator</a:t>
            </a:r>
            <a:r>
              <a:rPr lang="en" sz="1250">
                <a:solidFill>
                  <a:schemeClr val="dk1"/>
                </a:solidFill>
              </a:rPr>
              <a:t>("</a:t>
            </a:r>
            <a:r>
              <a:rPr b="1" lang="en" sz="1250">
                <a:solidFill>
                  <a:schemeClr val="dk1"/>
                </a:solidFill>
              </a:rPr>
              <a:t>new</a:t>
            </a:r>
            <a:r>
              <a:rPr lang="en" sz="1250">
                <a:solidFill>
                  <a:schemeClr val="dk1"/>
                </a:solidFill>
              </a:rPr>
              <a:t> </a:t>
            </a:r>
            <a:r>
              <a:rPr b="1" lang="en" sz="1250">
                <a:solidFill>
                  <a:schemeClr val="dk1"/>
                </a:solidFill>
              </a:rPr>
              <a:t>UiScrollable</a:t>
            </a:r>
            <a:r>
              <a:rPr lang="en" sz="1250">
                <a:solidFill>
                  <a:schemeClr val="dk1"/>
                </a:solidFill>
              </a:rPr>
              <a:t>(new UiSelector().resourceId(\"android:id/list\")).scrollIntoView(new UiSelector().description(\"ScrollBars\"))");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driver.findElement(locator);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50" u="sng">
                <a:solidFill>
                  <a:schemeClr val="dk1"/>
                </a:solidFill>
              </a:rPr>
              <a:t>Format for UiScrollabe:</a:t>
            </a:r>
            <a:endParaRPr b="1" i="1" sz="125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F00"/>
                </a:highlight>
              </a:rPr>
              <a:t>new UiScrollable(UiSelector for container element).scrollIntoView(UiSelector for target element)</a:t>
            </a:r>
            <a:endParaRPr sz="125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new UiSelector().resourceId(“...”)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 (#2) Scroll using element id #2</a:t>
            </a:r>
            <a:endParaRPr b="1"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((RemoteWebElement)driver.findElement(scrollableCntrLocator)).getId());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params.put("direction", "down");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params.put("percent", 0.5);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boolean canScrollMore = (boolean) driver.executeScript("mobile: scrollGesture", params);</a:t>
            </a:r>
            <a:endParaRPr sz="1000">
              <a:solidFill>
                <a:srgbClr val="FF79C6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9c797bee5_0_8"/>
          <p:cNvSpPr txBox="1"/>
          <p:nvPr/>
        </p:nvSpPr>
        <p:spPr>
          <a:xfrm>
            <a:off x="138242" y="619058"/>
            <a:ext cx="6501900" cy="2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 (#3) Scroll by creating a scroll view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params.put("top", 100);</a:t>
            </a:r>
            <a:endParaRPr sz="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params.put("left", 200);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params.put("height", 300);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params.put("width", 600);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params.put("direction", “down”); // up, down, left, right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params.put("percent", 1.0); // 1.0 = one full scroll of the area. higher = multiple.</a:t>
            </a:r>
            <a:endParaRPr sz="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boolean canScrollMore = (boolean) driver.executeScript("mobile: scrollGesture", params);</a:t>
            </a:r>
            <a:endParaRPr sz="1000">
              <a:solidFill>
                <a:srgbClr val="FF79C6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9" name="Google Shape;229;g3a9c797bee5_0_8"/>
          <p:cNvPicPr preferRelativeResize="0"/>
          <p:nvPr/>
        </p:nvPicPr>
        <p:blipFill rotWithShape="1">
          <a:blip r:embed="rId3">
            <a:alphaModFix/>
          </a:blip>
          <a:srcRect b="0" l="25218" r="22697" t="0"/>
          <a:stretch/>
        </p:blipFill>
        <p:spPr>
          <a:xfrm>
            <a:off x="6601825" y="97500"/>
            <a:ext cx="2596425" cy="48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a9c797bee5_0_8"/>
          <p:cNvSpPr/>
          <p:nvPr/>
        </p:nvSpPr>
        <p:spPr>
          <a:xfrm>
            <a:off x="7535769" y="1405100"/>
            <a:ext cx="457500" cy="2139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" name="Google Shape;231;g3a9c797bee5_0_8"/>
          <p:cNvCxnSpPr/>
          <p:nvPr/>
        </p:nvCxnSpPr>
        <p:spPr>
          <a:xfrm flipH="1" rot="10800000">
            <a:off x="5707075" y="3231400"/>
            <a:ext cx="1833300" cy="81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g3a9c797bee5_0_8"/>
          <p:cNvSpPr txBox="1"/>
          <p:nvPr/>
        </p:nvSpPr>
        <p:spPr>
          <a:xfrm>
            <a:off x="4357916" y="3840693"/>
            <a:ext cx="1657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Scroll View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33" name="Google Shape;233;g3a9c797bee5_0_8"/>
          <p:cNvSpPr/>
          <p:nvPr/>
        </p:nvSpPr>
        <p:spPr>
          <a:xfrm>
            <a:off x="7455682" y="1369678"/>
            <a:ext cx="175800" cy="153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" name="Google Shape;234;g3a9c797bee5_0_8"/>
          <p:cNvCxnSpPr/>
          <p:nvPr/>
        </p:nvCxnSpPr>
        <p:spPr>
          <a:xfrm>
            <a:off x="6025450" y="1118000"/>
            <a:ext cx="1310400" cy="2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g3a9c797bee5_0_8"/>
          <p:cNvSpPr txBox="1"/>
          <p:nvPr/>
        </p:nvSpPr>
        <p:spPr>
          <a:xfrm>
            <a:off x="5223925" y="891625"/>
            <a:ext cx="861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x=left, y=top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36" name="Google Shape;236;g3a9c797bee5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6460" y="3557453"/>
            <a:ext cx="457375" cy="4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9c797bee5_0_65"/>
          <p:cNvSpPr txBox="1"/>
          <p:nvPr/>
        </p:nvSpPr>
        <p:spPr>
          <a:xfrm>
            <a:off x="920375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Android Mobile Gestures: Drag and Drop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9c797bee5_0_69"/>
          <p:cNvSpPr txBox="1"/>
          <p:nvPr/>
        </p:nvSpPr>
        <p:spPr>
          <a:xfrm>
            <a:off x="275475" y="481825"/>
            <a:ext cx="84891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</a:rPr>
              <a:t>//Drag element (by elementId) to specific destn x,y point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Map&lt;String, Object&gt; params = new HashMap&lt;String, Object&gt;();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((RemoteWebElement)element).getId()); //gives top-left co-ord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params.put("endX", 200); //destn position on screen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params.put("endY", 300); //destn position on screen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driver.executeScript("mobile:</a:t>
            </a:r>
            <a:r>
              <a:rPr b="1" lang="en" sz="1250">
                <a:solidFill>
                  <a:schemeClr val="dk1"/>
                </a:solidFill>
              </a:rPr>
              <a:t>dragGesture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a2db7c76c_0_0"/>
          <p:cNvSpPr txBox="1"/>
          <p:nvPr/>
        </p:nvSpPr>
        <p:spPr>
          <a:xfrm>
            <a:off x="920375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Android Mobile Gestures: Long Click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a2db7c76c_0_4"/>
          <p:cNvSpPr txBox="1"/>
          <p:nvPr/>
        </p:nvSpPr>
        <p:spPr>
          <a:xfrm>
            <a:off x="275475" y="481825"/>
            <a:ext cx="8489100" cy="4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//Long click an element  by elementId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WebElement element = driver.findElement(locator);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 element).getId());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params.put("duration", 5000); //in millisecs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driver.executeScript("</a:t>
            </a:r>
            <a:r>
              <a:rPr b="1" lang="en" sz="1250">
                <a:solidFill>
                  <a:schemeClr val="dk1"/>
                </a:solidFill>
              </a:rPr>
              <a:t>mobile: longClickGesture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</a:rPr>
              <a:t>//Long click an element  by co-ordinates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Map&lt;String, Object&gt; params = new HashMap&lt;String, Object&gt;();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params.put("x", (startX + width/2));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params.put("y", (startX + height/2));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params.put("duration", 5000);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driver.executeScript("</a:t>
            </a:r>
            <a:r>
              <a:rPr b="1" lang="en" sz="1250">
                <a:solidFill>
                  <a:schemeClr val="dk1"/>
                </a:solidFill>
              </a:rPr>
              <a:t>mobile:longClickGesture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a2db7c76c_0_8"/>
          <p:cNvSpPr txBox="1"/>
          <p:nvPr/>
        </p:nvSpPr>
        <p:spPr>
          <a:xfrm>
            <a:off x="964026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Start and Stop Appium Server by code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a2db7c76c_0_12"/>
          <p:cNvSpPr txBox="1"/>
          <p:nvPr/>
        </p:nvSpPr>
        <p:spPr>
          <a:xfrm>
            <a:off x="191623" y="383989"/>
            <a:ext cx="89385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</a:rPr>
              <a:t>AppiumDriverLocalService service = new AppiumServiceBuilder()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</a:rPr>
              <a:t>       .withAppiumJS(new File(</a:t>
            </a:r>
            <a:r>
              <a:rPr b="1" lang="en" sz="1450">
                <a:solidFill>
                  <a:schemeClr val="dk1"/>
                </a:solidFill>
              </a:rPr>
              <a:t>APPIUM_JS_FILE_PATH</a:t>
            </a:r>
            <a:r>
              <a:rPr lang="en" sz="1450">
                <a:solidFill>
                  <a:schemeClr val="dk1"/>
                </a:solidFill>
              </a:rPr>
              <a:t>))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chemeClr val="dk1"/>
                </a:solidFill>
              </a:rPr>
              <a:t>       .usingDriverExecutable(new File(</a:t>
            </a:r>
            <a:r>
              <a:rPr b="1" lang="en" sz="1450">
                <a:solidFill>
                  <a:schemeClr val="dk1"/>
                </a:solidFill>
              </a:rPr>
              <a:t>NODE_PATH</a:t>
            </a:r>
            <a:r>
              <a:rPr lang="en" sz="1450">
                <a:solidFill>
                  <a:schemeClr val="dk1"/>
                </a:solidFill>
              </a:rPr>
              <a:t>))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       .withIPAddress("127.0.0.1").usingPort(4723).build();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service.start();    //start the service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service.stop();    // stop the service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u="sng">
                <a:solidFill>
                  <a:schemeClr val="dk1"/>
                </a:solidFill>
              </a:rPr>
              <a:t>Paths for Windows system</a:t>
            </a:r>
            <a:endParaRPr sz="1450" u="sng">
              <a:solidFill>
                <a:schemeClr val="dk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APPIUM_JS_FILE_PATH -&gt; C:\Users\&lt;user-name&gt;\AppData\Roaming\npm\node_modules\appium\build\lib\main.js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NODE_PATH -&gt; C:\Program Files\nodejs\node.exe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 u="sng">
                <a:solidFill>
                  <a:schemeClr val="dk1"/>
                </a:solidFill>
              </a:rPr>
              <a:t>Paths for Mac system</a:t>
            </a:r>
            <a:endParaRPr sz="1450" u="sng">
              <a:solidFill>
                <a:schemeClr val="dk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APPIUM_JS_FILE_PATH -&gt; /opt/homebrew/lib/node_modules/appium/build/lib/main.js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NODE_PATH -&gt; /opt/homebrew/bin/node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2db7c76c_0_16"/>
          <p:cNvSpPr txBox="1"/>
          <p:nvPr/>
        </p:nvSpPr>
        <p:spPr>
          <a:xfrm>
            <a:off x="964026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Handling Toast Messages in Android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aa2db7c76c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575" y="1998700"/>
            <a:ext cx="5017424" cy="255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g3aa2db7c76c_0_20"/>
          <p:cNvCxnSpPr/>
          <p:nvPr/>
        </p:nvCxnSpPr>
        <p:spPr>
          <a:xfrm>
            <a:off x="2683575" y="1271900"/>
            <a:ext cx="2711400" cy="132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g3aa2db7c76c_0_20"/>
          <p:cNvSpPr txBox="1"/>
          <p:nvPr/>
        </p:nvSpPr>
        <p:spPr>
          <a:xfrm>
            <a:off x="0" y="475215"/>
            <a:ext cx="84561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1"/>
                </a:solidFill>
              </a:rPr>
              <a:t>String text = driver.findElement(AppiumBy.xpath("</a:t>
            </a:r>
            <a:r>
              <a:rPr b="1" lang="en" sz="1550">
                <a:solidFill>
                  <a:schemeClr val="dk1"/>
                </a:solidFill>
              </a:rPr>
              <a:t>//android.widget.Toast</a:t>
            </a:r>
            <a:r>
              <a:rPr lang="en" sz="1550">
                <a:solidFill>
                  <a:schemeClr val="dk1"/>
                </a:solidFill>
              </a:rPr>
              <a:t>")).getText();</a:t>
            </a:r>
            <a:endParaRPr sz="15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1"/>
                </a:solidFill>
              </a:rPr>
              <a:t>System.out.println("Toast Message is: " + text);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79" name="Google Shape;279;g3aa2db7c76c_0_20"/>
          <p:cNvSpPr txBox="1"/>
          <p:nvPr/>
        </p:nvSpPr>
        <p:spPr>
          <a:xfrm>
            <a:off x="57087" y="1819373"/>
            <a:ext cx="383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Appears temporarily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is a javascript popup which we cannot inspect.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Only in Android.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a7947d97d_0_0"/>
          <p:cNvSpPr txBox="1"/>
          <p:nvPr/>
        </p:nvSpPr>
        <p:spPr>
          <a:xfrm>
            <a:off x="1702327" y="1980125"/>
            <a:ext cx="63984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Handling Key Events in Android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a7947d97d_0_4"/>
          <p:cNvSpPr txBox="1"/>
          <p:nvPr/>
        </p:nvSpPr>
        <p:spPr>
          <a:xfrm>
            <a:off x="100" y="1138741"/>
            <a:ext cx="91440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</a:rPr>
              <a:t>Different Key functions to be used:</a:t>
            </a:r>
            <a:endParaRPr b="1" sz="16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driver.pressKey(new KeyEvent(AndroidKey.</a:t>
            </a:r>
            <a:r>
              <a:rPr b="1" lang="en" sz="1650">
                <a:solidFill>
                  <a:schemeClr val="dk1"/>
                </a:solidFill>
              </a:rPr>
              <a:t>HOME</a:t>
            </a:r>
            <a:r>
              <a:rPr lang="en" sz="1650">
                <a:solidFill>
                  <a:schemeClr val="dk1"/>
                </a:solidFill>
              </a:rPr>
              <a:t>));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driver.pressKey(new KeyEvent(AndroidKey.</a:t>
            </a:r>
            <a:r>
              <a:rPr b="1" lang="en" sz="1650">
                <a:solidFill>
                  <a:schemeClr val="dk1"/>
                </a:solidFill>
              </a:rPr>
              <a:t>APP_SWITCH</a:t>
            </a:r>
            <a:r>
              <a:rPr lang="en" sz="1650">
                <a:solidFill>
                  <a:schemeClr val="dk1"/>
                </a:solidFill>
              </a:rPr>
              <a:t>));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●"/>
            </a:pPr>
            <a:r>
              <a:rPr lang="en" sz="1650">
                <a:solidFill>
                  <a:schemeClr val="dk1"/>
                </a:solidFill>
              </a:rPr>
              <a:t>driver.pressKey(new KeyEvent(AndroidKey.</a:t>
            </a:r>
            <a:r>
              <a:rPr b="1" lang="en" sz="1650">
                <a:solidFill>
                  <a:schemeClr val="dk1"/>
                </a:solidFill>
              </a:rPr>
              <a:t>BACK</a:t>
            </a:r>
            <a:r>
              <a:rPr lang="en" sz="1650">
                <a:solidFill>
                  <a:schemeClr val="dk1"/>
                </a:solidFill>
              </a:rPr>
              <a:t>));</a:t>
            </a:r>
            <a:endParaRPr sz="1650" u="sng">
              <a:solidFill>
                <a:schemeClr val="dk1"/>
              </a:solidFill>
            </a:endParaRPr>
          </a:p>
        </p:txBody>
      </p:sp>
      <p:pic>
        <p:nvPicPr>
          <p:cNvPr id="290" name="Google Shape;290;g3aa7947d97d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825" y="0"/>
            <a:ext cx="3595175" cy="2019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g3aa7947d97d_0_4"/>
          <p:cNvCxnSpPr/>
          <p:nvPr/>
        </p:nvCxnSpPr>
        <p:spPr>
          <a:xfrm flipH="1" rot="10800000">
            <a:off x="6247675" y="1984800"/>
            <a:ext cx="27900" cy="74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g3aa7947d97d_0_4"/>
          <p:cNvCxnSpPr/>
          <p:nvPr/>
        </p:nvCxnSpPr>
        <p:spPr>
          <a:xfrm flipH="1" rot="10800000">
            <a:off x="7287613" y="1984800"/>
            <a:ext cx="27900" cy="74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g3aa7947d97d_0_4"/>
          <p:cNvCxnSpPr/>
          <p:nvPr/>
        </p:nvCxnSpPr>
        <p:spPr>
          <a:xfrm flipH="1" rot="10800000">
            <a:off x="8327550" y="1984800"/>
            <a:ext cx="27900" cy="74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g3aa7947d97d_0_4"/>
          <p:cNvSpPr txBox="1"/>
          <p:nvPr/>
        </p:nvSpPr>
        <p:spPr>
          <a:xfrm>
            <a:off x="5856313" y="2711515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Back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95" name="Google Shape;295;g3aa7947d97d_0_4"/>
          <p:cNvSpPr txBox="1"/>
          <p:nvPr/>
        </p:nvSpPr>
        <p:spPr>
          <a:xfrm>
            <a:off x="6931227" y="2738142"/>
            <a:ext cx="84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Home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96" name="Google Shape;296;g3aa7947d97d_0_4"/>
          <p:cNvSpPr txBox="1"/>
          <p:nvPr/>
        </p:nvSpPr>
        <p:spPr>
          <a:xfrm>
            <a:off x="8004777" y="2683569"/>
            <a:ext cx="100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App Switch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a7947d97d_0_15"/>
          <p:cNvSpPr txBox="1"/>
          <p:nvPr/>
        </p:nvSpPr>
        <p:spPr>
          <a:xfrm>
            <a:off x="964026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Handling Screen Orientation in Android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3aa7947d97d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250" y="0"/>
            <a:ext cx="3741525" cy="24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aa7947d97d_0_19"/>
          <p:cNvSpPr txBox="1"/>
          <p:nvPr/>
        </p:nvSpPr>
        <p:spPr>
          <a:xfrm>
            <a:off x="0" y="2571750"/>
            <a:ext cx="9144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//Get current screen orientation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ScreenOrientation orientation = ((AndroidDriver) driver).getOrientation();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System.out.println("Current Orientation: " + orientation.toString()); //returns PORTRAIT or LANDSCAPE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//Rotate screen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((AndroidDriver) driver)</a:t>
            </a:r>
            <a:r>
              <a:rPr lang="en" sz="1600"/>
              <a:t>.rotate(ScreenOrientation.LANDSCAPE);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((AndroidDriver) driver)</a:t>
            </a:r>
            <a:r>
              <a:rPr lang="en" sz="1600"/>
              <a:t>.rotate(ScreenOrientation.PORTRAIT);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a7947d97d_0_24"/>
          <p:cNvSpPr txBox="1"/>
          <p:nvPr/>
        </p:nvSpPr>
        <p:spPr>
          <a:xfrm>
            <a:off x="2671103" y="2025766"/>
            <a:ext cx="47172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Handling Hybrid Apps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aa7947d97d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800" y="152400"/>
            <a:ext cx="272456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aa7947d97d_0_28"/>
          <p:cNvSpPr txBox="1"/>
          <p:nvPr/>
        </p:nvSpPr>
        <p:spPr>
          <a:xfrm>
            <a:off x="200825" y="1193825"/>
            <a:ext cx="59379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//get all the contexts available in the page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Set&lt;String&gt; contexts = ((AndroidDriver) driver).getContextHandles();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//get current context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String context = ((AndroidDriver) driver).getContext();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//switch context to Web View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for (String context : contexts) {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   if (context.contains("WEBVIEW"))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       ((AndroidDriver) driver).context(context);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}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//switch context to Native View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for (String context : contexts) {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   if (context.contains("NATIVE"))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       ((AndroidDriver) driver).context(context);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}</a:t>
            </a:r>
            <a:endParaRPr sz="1250">
              <a:solidFill>
                <a:schemeClr val="dk1"/>
              </a:solidFill>
            </a:endParaRPr>
          </a:p>
        </p:txBody>
      </p:sp>
      <p:sp>
        <p:nvSpPr>
          <p:cNvPr id="319" name="Google Shape;319;g3aa7947d97d_0_28"/>
          <p:cNvSpPr txBox="1"/>
          <p:nvPr/>
        </p:nvSpPr>
        <p:spPr>
          <a:xfrm>
            <a:off x="236547" y="152400"/>
            <a:ext cx="499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 types of contexts available in Hybrid Apps: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Native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WebView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a7947d97d_0_34"/>
          <p:cNvSpPr txBox="1"/>
          <p:nvPr/>
        </p:nvSpPr>
        <p:spPr>
          <a:xfrm>
            <a:off x="214225" y="194125"/>
            <a:ext cx="8747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Error will be thrown while switching context: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</a:rPr>
              <a:t>io.appium.java_client.NoSuchContextException: No Chromedriver found that can automate Chrome '124.0.6367'. You could also try to enable automated chromedrivers download as a possible workaround.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Steps to handle embedded chrome browser inside Hybrid App: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>
                <a:solidFill>
                  <a:schemeClr val="dk1"/>
                </a:solidFill>
              </a:rPr>
              <a:t>Download chromedriver from: </a:t>
            </a: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Downloads  |  ChromeDriver  |  Chrome for Developers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 below capabilities to existing driver: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options.setChromedriverExecutable("path to chromedriver file");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5" name="Google Shape;325;g3aa7947d97d_0_34"/>
          <p:cNvSpPr txBox="1"/>
          <p:nvPr/>
        </p:nvSpPr>
        <p:spPr>
          <a:xfrm>
            <a:off x="78100" y="3983125"/>
            <a:ext cx="88836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Mac, due to internal firewall check, chromedriver will be blocked. To avoid that run the below commands: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cd &lt;path-to-chromedriver-file&gt;</a:t>
            </a:r>
            <a:endParaRPr b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 xattr -d com.apple.quarantine chromedriver</a:t>
            </a:r>
            <a:endParaRPr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3c467c854_0_0"/>
          <p:cNvSpPr txBox="1"/>
          <p:nvPr/>
        </p:nvSpPr>
        <p:spPr>
          <a:xfrm>
            <a:off x="1809699" y="2025775"/>
            <a:ext cx="5578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Handling Browsers in Android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3c467c854_0_4"/>
          <p:cNvSpPr txBox="1"/>
          <p:nvPr/>
        </p:nvSpPr>
        <p:spPr>
          <a:xfrm>
            <a:off x="493150" y="394975"/>
            <a:ext cx="82563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</a:rPr>
              <a:t>//Code to launch Chrome browser in Android</a:t>
            </a:r>
            <a:endParaRPr b="1"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UiAutomator2Options options = new UiAutomator2Options();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options.setAvd("Pixel_6a");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F00"/>
                </a:highlight>
              </a:rPr>
              <a:t>options.setChromedriverExecutable("path to chromedriver");</a:t>
            </a:r>
            <a:endParaRPr sz="125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F00"/>
                </a:highlight>
              </a:rPr>
              <a:t>options.setCapability("browserName", "Chrome");</a:t>
            </a:r>
            <a:r>
              <a:rPr lang="en" sz="1250">
                <a:solidFill>
                  <a:schemeClr val="dk1"/>
                </a:solidFill>
              </a:rPr>
              <a:t> </a:t>
            </a:r>
            <a:r>
              <a:rPr lang="en" sz="1050">
                <a:solidFill>
                  <a:schemeClr val="dk1"/>
                </a:solidFill>
              </a:rPr>
              <a:t>//Without it, Appium assumes you are launching a native application</a:t>
            </a:r>
            <a:endParaRPr sz="105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AppiumDriver driver = new AndroidDriver(new URL("http://127.0.0.1:4723"), options);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driver.manage().timeouts().implicitlyWait(Duration.ofSeconds(10));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driver.get("http://google.co.in");</a:t>
            </a:r>
            <a:endParaRPr sz="10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