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embeddedFontLst>
    <p:embeddedFont>
      <p:font typeface="Roboto Mon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534DA98-6454-457D-A624-52C7AB3A84CF}">
  <a:tblStyle styleId="{8534DA98-6454-457D-A624-52C7AB3A84C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988892F-9962-40AA-AED3-9DF31C4480C7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RobotoMono-regular.fntdata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RobotoMono-italic.fntdata"/><Relationship Id="rId21" Type="http://schemas.openxmlformats.org/officeDocument/2006/relationships/slide" Target="slides/slide15.xml"/><Relationship Id="rId43" Type="http://schemas.openxmlformats.org/officeDocument/2006/relationships/font" Target="fonts/RobotoMono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fd9c8093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fd9c8093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fd9c8093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fd9c8093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fd9c80930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fd9c8093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fd9c8093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fd9c8093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fd9c8093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fd9c8093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fd9c8093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fd9c8093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fd9c80930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fd9c8093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fd9c8093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fd9c8093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fd9c80930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fd9c8093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fd9c80930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fd9c80930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fd9c80930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fd9c80930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fd9c80930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fd9c8093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fd9c80930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fd9c8093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fd9c80930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fd9c80930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2137f6aed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2137f6ae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2137f6aed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2137f6ae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fd9c80930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fd9c80930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fd9c80930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fd9c80930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2137f6ae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2137f6ae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2137f6ae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2137f6ae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fd9c80930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fd9c80930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fd9c80930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9fd9c80930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fd9c80930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9fd9c80930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fd9c80930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9fd9c80930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2137f6ae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2137f6ae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2137f6a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2137f6a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fd9c80930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9fd9c80930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fd9c80930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fd9c80930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fd9c80930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9fd9c80930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2137f6ae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a2137f6ae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2137f6ae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2137f6ae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2137f6ae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2137f6ae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45c8539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a45c8539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45c8539e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a45c8539e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315387" y="1880325"/>
            <a:ext cx="70323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2"/>
                </a:solidFill>
              </a:rPr>
              <a:t>Data Types and Variables</a:t>
            </a:r>
            <a:endParaRPr b="1" sz="3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354150"/>
            <a:ext cx="8520600" cy="42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types of data types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Primitive types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Reference types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Google Shape;64;p15"/>
          <p:cNvGraphicFramePr/>
          <p:nvPr/>
        </p:nvGraphicFramePr>
        <p:xfrm>
          <a:off x="952500" y="47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{8534DA98-6454-457D-A624-52C7AB3A84CF}</a:tableStyleId>
              </a:tblPr>
              <a:tblGrid>
                <a:gridCol w="1872675"/>
                <a:gridCol w="2953325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Data Type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Range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Example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byte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-128 to 127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byte b = 100;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short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-32,768 to 32,767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short s = 25000;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-2,147,483,648 to 2,147,483,647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 i = 500000;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-9,223,372,036,854,775,808 to 9,223,372,036,854,775,807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long l = 10000000000L;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float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~±3.4e38 (approx.)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float f = 12.5f;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double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~±1.7e308 (approx.)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double d = 99.99;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char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 to 65,535 (Unicode values)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char c = 'A';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boolean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true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or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false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boolean flag = true;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5" name="Google Shape;65;p15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{E988892F-9962-40AA-AED3-9DF31C4480C7}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379450"/>
            <a:ext cx="8520600" cy="4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Casting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 types of casting - implicit and explicit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 careful about overflow during explicit casting!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byte b1 = 130;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   -128, -127,</a:t>
            </a:r>
            <a:r>
              <a:rPr b="1" lang="en">
                <a:solidFill>
                  <a:srgbClr val="FF0000"/>
                </a:solidFill>
              </a:rPr>
              <a:t>-126</a:t>
            </a:r>
            <a:r>
              <a:rPr lang="en"/>
              <a:t>,………..0,1,3,...........126,127</a:t>
            </a:r>
            <a:endParaRPr/>
          </a:p>
        </p:txBody>
      </p:sp>
      <p:cxnSp>
        <p:nvCxnSpPr>
          <p:cNvPr id="71" name="Google Shape;71;p16"/>
          <p:cNvCxnSpPr/>
          <p:nvPr/>
        </p:nvCxnSpPr>
        <p:spPr>
          <a:xfrm>
            <a:off x="5455475" y="2774125"/>
            <a:ext cx="1087500" cy="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" name="Google Shape;72;p16"/>
          <p:cNvCxnSpPr/>
          <p:nvPr/>
        </p:nvCxnSpPr>
        <p:spPr>
          <a:xfrm>
            <a:off x="6517900" y="2790975"/>
            <a:ext cx="0" cy="79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" name="Google Shape;73;p16"/>
          <p:cNvCxnSpPr/>
          <p:nvPr/>
        </p:nvCxnSpPr>
        <p:spPr>
          <a:xfrm rot="10800000">
            <a:off x="1138375" y="3549975"/>
            <a:ext cx="5396400" cy="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6"/>
          <p:cNvCxnSpPr/>
          <p:nvPr/>
        </p:nvCxnSpPr>
        <p:spPr>
          <a:xfrm rot="10800000">
            <a:off x="1146775" y="2993400"/>
            <a:ext cx="8400" cy="56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1315387" y="1880325"/>
            <a:ext cx="70323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2"/>
                </a:solidFill>
              </a:rPr>
              <a:t>C</a:t>
            </a:r>
            <a:r>
              <a:rPr b="1" lang="en" sz="3500">
                <a:solidFill>
                  <a:schemeClr val="dk2"/>
                </a:solidFill>
              </a:rPr>
              <a:t>onditions: </a:t>
            </a:r>
            <a:r>
              <a:rPr b="1" lang="en" sz="3500">
                <a:solidFill>
                  <a:schemeClr val="dk2"/>
                </a:solidFill>
              </a:rPr>
              <a:t>if-else-else if &amp;  switch case</a:t>
            </a:r>
            <a:endParaRPr b="1" sz="3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93925"/>
            <a:ext cx="8520600" cy="43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Which block of code to execute based on a given condition.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Unlike if-else where each condition is evaluated, in switch-case the execution jumps directly to the fulfilling condition.</a:t>
            </a:r>
            <a:endParaRPr sz="1700"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4599" y="1247925"/>
            <a:ext cx="6084525" cy="38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/>
        </p:nvSpPr>
        <p:spPr>
          <a:xfrm>
            <a:off x="1315387" y="1880325"/>
            <a:ext cx="70323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2"/>
                </a:solidFill>
              </a:rPr>
              <a:t>Loops: For loop and While loop</a:t>
            </a:r>
            <a:endParaRPr b="1" sz="3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311700" y="379450"/>
            <a:ext cx="8520600" cy="4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Executing the same piece of code for a given number of times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20"/>
          <p:cNvPicPr preferRelativeResize="0"/>
          <p:nvPr/>
        </p:nvPicPr>
        <p:blipFill rotWithShape="1">
          <a:blip r:embed="rId3">
            <a:alphaModFix/>
          </a:blip>
          <a:srcRect b="9556" l="2239" r="2875" t="4429"/>
          <a:stretch/>
        </p:blipFill>
        <p:spPr>
          <a:xfrm>
            <a:off x="1703250" y="1129875"/>
            <a:ext cx="6475750" cy="388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/>
        </p:nvSpPr>
        <p:spPr>
          <a:xfrm>
            <a:off x="1315387" y="1880325"/>
            <a:ext cx="70323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2"/>
                </a:solidFill>
              </a:rPr>
              <a:t>Arrays</a:t>
            </a:r>
            <a:endParaRPr b="1" sz="3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/>
        </p:nvSpPr>
        <p:spPr>
          <a:xfrm>
            <a:off x="354150" y="404729"/>
            <a:ext cx="832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 structure storing data in continuous memory locations.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Arrays can be 1-dimensional or 2-dimensional.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7" name="Google Shape;107;p22"/>
          <p:cNvPicPr preferRelativeResize="0"/>
          <p:nvPr/>
        </p:nvPicPr>
        <p:blipFill rotWithShape="1">
          <a:blip r:embed="rId3">
            <a:alphaModFix/>
          </a:blip>
          <a:srcRect b="0" l="0" r="0" t="28479"/>
          <a:stretch/>
        </p:blipFill>
        <p:spPr>
          <a:xfrm>
            <a:off x="1897825" y="1509334"/>
            <a:ext cx="5432350" cy="284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/>
        </p:nvSpPr>
        <p:spPr>
          <a:xfrm>
            <a:off x="1315387" y="1880325"/>
            <a:ext cx="70323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2"/>
                </a:solidFill>
              </a:rPr>
              <a:t>Strings</a:t>
            </a:r>
            <a:endParaRPr b="1" sz="3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11700" y="252950"/>
            <a:ext cx="8520600" cy="43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 str = “This is a test string.”;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8" name="Google Shape;118;p24"/>
          <p:cNvGraphicFramePr/>
          <p:nvPr/>
        </p:nvGraphicFramePr>
        <p:xfrm>
          <a:off x="421286" y="8439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{8534DA98-6454-457D-A624-52C7AB3A84CF}</a:tableStyleId>
              </a:tblPr>
              <a:tblGrid>
                <a:gridCol w="2084875"/>
                <a:gridCol w="5154125"/>
              </a:tblGrid>
              <a:tr h="39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str.</a:t>
                      </a:r>
                      <a:r>
                        <a:rPr lang="en" sz="1200"/>
                        <a:t>length()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Returns the number of characters in the string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9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str.</a:t>
                      </a:r>
                      <a:r>
                        <a:rPr lang="en" sz="1200"/>
                        <a:t>contains(“Hello”)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Checks if the string contains a specific sequence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str1.equals(str2)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Compares two strings for exact match (case-sensitive)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str1.equalsIgnoreCase(str2)</a:t>
                      </a:r>
                      <a:endParaRPr sz="12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Compares two strings for exact match (case-insensitive)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str.startsWith(“Hello”)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str.endsWith(“World”)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Checks if the string starts or ends with a substring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str.toUpperCase()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str.toLowerCase()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Converts all characters to lower or upper case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str.subString(0, 4)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Extracts a portion of the string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.a   .n    .i     .m    .a    .l    .s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0    1     2     3      4    5    6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str.replace(“Hello”, “Bye”)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Replaces occurrences of a substring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/>
        </p:nvSpPr>
        <p:spPr>
          <a:xfrm>
            <a:off x="1315387" y="1880325"/>
            <a:ext cx="70323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2"/>
                </a:solidFill>
              </a:rPr>
              <a:t>Class and Object</a:t>
            </a:r>
            <a:endParaRPr b="1" sz="3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/>
          <p:nvPr>
            <p:ph idx="1" type="body"/>
          </p:nvPr>
        </p:nvSpPr>
        <p:spPr>
          <a:xfrm>
            <a:off x="311700" y="286675"/>
            <a:ext cx="8520600" cy="42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Class</a:t>
            </a:r>
            <a:r>
              <a:rPr lang="en" sz="1500">
                <a:solidFill>
                  <a:schemeClr val="dk1"/>
                </a:solidFill>
              </a:rPr>
              <a:t>: A blueprint or template — defines properties (variables) and behaviors (methods).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Object</a:t>
            </a:r>
            <a:r>
              <a:rPr lang="en" sz="1500">
                <a:solidFill>
                  <a:schemeClr val="dk1"/>
                </a:solidFill>
              </a:rPr>
              <a:t>: A real instance of that class — it has its own copy of those variables and can call the methods.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7834" y="1501200"/>
            <a:ext cx="4103625" cy="324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/>
          <p:nvPr>
            <p:ph idx="1" type="body"/>
          </p:nvPr>
        </p:nvSpPr>
        <p:spPr>
          <a:xfrm>
            <a:off x="274675" y="346505"/>
            <a:ext cx="8520600" cy="42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 car1 = new Car();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car1.brand(“Toyota”);</a:t>
            </a:r>
            <a:endParaRPr/>
          </a:p>
        </p:txBody>
      </p:sp>
      <p:sp>
        <p:nvSpPr>
          <p:cNvPr id="135" name="Google Shape;135;p27"/>
          <p:cNvSpPr/>
          <p:nvPr/>
        </p:nvSpPr>
        <p:spPr>
          <a:xfrm>
            <a:off x="5526625" y="1271600"/>
            <a:ext cx="3228000" cy="2486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color</a:t>
            </a:r>
            <a:endParaRPr/>
          </a:p>
        </p:txBody>
      </p:sp>
      <p:sp>
        <p:nvSpPr>
          <p:cNvPr id="136" name="Google Shape;136;p27"/>
          <p:cNvSpPr/>
          <p:nvPr/>
        </p:nvSpPr>
        <p:spPr>
          <a:xfrm>
            <a:off x="6423250" y="2172450"/>
            <a:ext cx="1548900" cy="1177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new Car()</a:t>
            </a:r>
            <a:endParaRPr u="sng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speed</a:t>
            </a:r>
            <a:endParaRPr/>
          </a:p>
        </p:txBody>
      </p:sp>
      <p:sp>
        <p:nvSpPr>
          <p:cNvPr id="137" name="Google Shape;137;p27"/>
          <p:cNvSpPr txBox="1"/>
          <p:nvPr/>
        </p:nvSpPr>
        <p:spPr>
          <a:xfrm>
            <a:off x="6406963" y="1499839"/>
            <a:ext cx="2388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Heap Memory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8" name="Google Shape;138;p27"/>
          <p:cNvSpPr/>
          <p:nvPr/>
        </p:nvSpPr>
        <p:spPr>
          <a:xfrm>
            <a:off x="1308225" y="1870775"/>
            <a:ext cx="1801500" cy="11247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7"/>
          <p:cNvSpPr/>
          <p:nvPr/>
        </p:nvSpPr>
        <p:spPr>
          <a:xfrm>
            <a:off x="1744388" y="2306831"/>
            <a:ext cx="929100" cy="25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 audi</a:t>
            </a:r>
            <a:endParaRPr/>
          </a:p>
        </p:txBody>
      </p:sp>
      <p:cxnSp>
        <p:nvCxnSpPr>
          <p:cNvPr id="140" name="Google Shape;140;p27"/>
          <p:cNvCxnSpPr>
            <a:stCxn id="139" idx="3"/>
            <a:endCxn id="136" idx="1"/>
          </p:cNvCxnSpPr>
          <p:nvPr/>
        </p:nvCxnSpPr>
        <p:spPr>
          <a:xfrm>
            <a:off x="2673488" y="2433131"/>
            <a:ext cx="3749700" cy="32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p27"/>
          <p:cNvSpPr txBox="1"/>
          <p:nvPr/>
        </p:nvSpPr>
        <p:spPr>
          <a:xfrm>
            <a:off x="1369420" y="1834053"/>
            <a:ext cx="167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Stack Memory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2" name="Google Shape;142;p27"/>
          <p:cNvSpPr/>
          <p:nvPr/>
        </p:nvSpPr>
        <p:spPr>
          <a:xfrm>
            <a:off x="1296075" y="3660100"/>
            <a:ext cx="1801500" cy="11247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7"/>
          <p:cNvSpPr/>
          <p:nvPr/>
        </p:nvSpPr>
        <p:spPr>
          <a:xfrm>
            <a:off x="1896788" y="3997359"/>
            <a:ext cx="929100" cy="25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 bmw</a:t>
            </a:r>
            <a:endParaRPr/>
          </a:p>
        </p:txBody>
      </p:sp>
      <p:cxnSp>
        <p:nvCxnSpPr>
          <p:cNvPr id="144" name="Google Shape;144;p27"/>
          <p:cNvCxnSpPr>
            <a:stCxn id="142" idx="3"/>
          </p:cNvCxnSpPr>
          <p:nvPr/>
        </p:nvCxnSpPr>
        <p:spPr>
          <a:xfrm flipH="1" rot="10800000">
            <a:off x="3097575" y="4167250"/>
            <a:ext cx="3305100" cy="55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" name="Google Shape;145;p27"/>
          <p:cNvSpPr/>
          <p:nvPr/>
        </p:nvSpPr>
        <p:spPr>
          <a:xfrm>
            <a:off x="6423250" y="3633550"/>
            <a:ext cx="1548900" cy="1177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new Car()</a:t>
            </a:r>
            <a:endParaRPr u="sng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speed</a:t>
            </a:r>
            <a:endParaRPr/>
          </a:p>
        </p:txBody>
      </p:sp>
      <p:sp>
        <p:nvSpPr>
          <p:cNvPr id="146" name="Google Shape;146;p27"/>
          <p:cNvSpPr txBox="1"/>
          <p:nvPr/>
        </p:nvSpPr>
        <p:spPr>
          <a:xfrm>
            <a:off x="5639800" y="1484800"/>
            <a:ext cx="984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color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/>
        </p:nvSpPr>
        <p:spPr>
          <a:xfrm>
            <a:off x="2673525" y="2174100"/>
            <a:ext cx="39084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2"/>
                </a:solidFill>
              </a:rPr>
              <a:t>static keyword</a:t>
            </a:r>
            <a:endParaRPr b="1" sz="3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/>
        </p:nvSpPr>
        <p:spPr>
          <a:xfrm>
            <a:off x="767025" y="574245"/>
            <a:ext cx="7087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 keyword in Java that makes a variable or method belong to the class itself rather than to any specific object.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They are stored in a shared memory space.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7" name="Google Shape;15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8950" y="1797775"/>
            <a:ext cx="5462799" cy="29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/>
        </p:nvSpPr>
        <p:spPr>
          <a:xfrm>
            <a:off x="1315387" y="1880325"/>
            <a:ext cx="70323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2"/>
                </a:solidFill>
              </a:rPr>
              <a:t>Constructors and Methods</a:t>
            </a:r>
            <a:endParaRPr b="1" sz="3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311700" y="286675"/>
            <a:ext cx="8520600" cy="42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Constructor - </a:t>
            </a:r>
            <a:r>
              <a:rPr lang="en" sz="1500">
                <a:solidFill>
                  <a:schemeClr val="dk1"/>
                </a:solidFill>
              </a:rPr>
              <a:t>helps to initialize an object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Method -</a:t>
            </a:r>
            <a:r>
              <a:rPr lang="en" sz="1500">
                <a:solidFill>
                  <a:schemeClr val="dk1"/>
                </a:solidFill>
              </a:rPr>
              <a:t> defines the behavior of an object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7834" y="1501200"/>
            <a:ext cx="4103625" cy="324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idx="1" type="body"/>
          </p:nvPr>
        </p:nvSpPr>
        <p:spPr>
          <a:xfrm>
            <a:off x="403698" y="1587373"/>
            <a:ext cx="688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Note: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/>
              <a:t>Remember the different components of a Class.</a:t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/>
        </p:nvSpPr>
        <p:spPr>
          <a:xfrm>
            <a:off x="1315387" y="1880325"/>
            <a:ext cx="70323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2"/>
                </a:solidFill>
              </a:rPr>
              <a:t>Package and the import statement</a:t>
            </a:r>
            <a:endParaRPr b="1" sz="3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 txBox="1"/>
          <p:nvPr/>
        </p:nvSpPr>
        <p:spPr>
          <a:xfrm>
            <a:off x="1315387" y="1880325"/>
            <a:ext cx="70323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2"/>
                </a:solidFill>
              </a:rPr>
              <a:t>Inheritance</a:t>
            </a:r>
            <a:endParaRPr b="1" sz="3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>
            <p:ph idx="1" type="body"/>
          </p:nvPr>
        </p:nvSpPr>
        <p:spPr>
          <a:xfrm>
            <a:off x="311700" y="286675"/>
            <a:ext cx="8520600" cy="42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Inheritance in Java lets one class acquire the properties and behaviors of another class.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parent class (also called superclass) defines common features.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child class (or subclass) extends the parent, reusing or overriding its methods.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extends keyword is what connects them.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35"/>
          <p:cNvPicPr preferRelativeResize="0"/>
          <p:nvPr/>
        </p:nvPicPr>
        <p:blipFill rotWithShape="1">
          <a:blip r:embed="rId3">
            <a:alphaModFix/>
          </a:blip>
          <a:srcRect b="15542" l="31524" r="10064" t="22287"/>
          <a:stretch/>
        </p:blipFill>
        <p:spPr>
          <a:xfrm>
            <a:off x="2306825" y="1695475"/>
            <a:ext cx="4434324" cy="247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/>
          <p:nvPr/>
        </p:nvSpPr>
        <p:spPr>
          <a:xfrm>
            <a:off x="1511020" y="1529817"/>
            <a:ext cx="70323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2"/>
                </a:solidFill>
              </a:rPr>
              <a:t>Abstraction: Abstract Class and Interface</a:t>
            </a:r>
            <a:endParaRPr b="1" sz="3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/>
          <p:nvPr>
            <p:ph idx="1" type="body"/>
          </p:nvPr>
        </p:nvSpPr>
        <p:spPr>
          <a:xfrm>
            <a:off x="311700" y="236400"/>
            <a:ext cx="8520600" cy="43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Abstract Class - may have zero or more abstract methods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Interface - will have all abstract methods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Abstract Method - A method without a body.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230" y="1428750"/>
            <a:ext cx="7889878" cy="314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1315387" y="1880325"/>
            <a:ext cx="70323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2"/>
                </a:solidFill>
              </a:rPr>
              <a:t>Encapsulaption: Access Types</a:t>
            </a:r>
            <a:endParaRPr b="1" sz="3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725" y="572025"/>
            <a:ext cx="6882750" cy="409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0"/>
          <p:cNvSpPr txBox="1"/>
          <p:nvPr/>
        </p:nvSpPr>
        <p:spPr>
          <a:xfrm>
            <a:off x="1511020" y="1529817"/>
            <a:ext cx="70323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2"/>
                </a:solidFill>
              </a:rPr>
              <a:t>Polymorphism: Method Overloading and Method Overriding</a:t>
            </a:r>
            <a:endParaRPr b="1" sz="3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311700" y="236400"/>
            <a:ext cx="8520600" cy="43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Polymorphism</a:t>
            </a:r>
            <a:r>
              <a:rPr lang="en" sz="1100">
                <a:solidFill>
                  <a:schemeClr val="dk1"/>
                </a:solidFill>
              </a:rPr>
              <a:t> means the same method name can behave differently based on </a:t>
            </a:r>
            <a:r>
              <a:rPr i="1" lang="en" sz="1100">
                <a:solidFill>
                  <a:schemeClr val="dk1"/>
                </a:solidFill>
              </a:rPr>
              <a:t>context</a:t>
            </a:r>
            <a:r>
              <a:rPr lang="en" sz="1100">
                <a:solidFill>
                  <a:schemeClr val="dk1"/>
                </a:solidFill>
              </a:rPr>
              <a:t> — either within the same class or across parent and child classes.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Method Overloading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Two or more methods share the same name but differ in parameters.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Both methods must be in same class.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Method Overriding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When a child class provides a new version of a method already defined in its parent.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375" y="1869090"/>
            <a:ext cx="6953250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2"/>
          <p:cNvSpPr txBox="1"/>
          <p:nvPr/>
        </p:nvSpPr>
        <p:spPr>
          <a:xfrm>
            <a:off x="2237260" y="1529825"/>
            <a:ext cx="54354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2"/>
                </a:solidFill>
              </a:rPr>
              <a:t>Exception Handling</a:t>
            </a:r>
            <a:endParaRPr b="1" sz="3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3"/>
          <p:cNvSpPr txBox="1"/>
          <p:nvPr>
            <p:ph idx="1" type="body"/>
          </p:nvPr>
        </p:nvSpPr>
        <p:spPr>
          <a:xfrm>
            <a:off x="311700" y="236400"/>
            <a:ext cx="8520600" cy="43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try block - Wraps code that may throw an exception and needs to be monitored for errors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catch block - Handles the exception thrown in the try block and defines the recovery logic.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finally block - Executes code always, whether an exception occurs or not, typically for cleanup tasks.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throws </a:t>
            </a:r>
            <a:r>
              <a:rPr lang="en" sz="1600">
                <a:solidFill>
                  <a:schemeClr val="dk1"/>
                </a:solidFill>
              </a:rPr>
              <a:t>clause - Declares exceptions a method might throw, shifting handling responsibility to the caller.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throw statement - Explicitly throws an exception in code to signal an error condition or custom exception scenario.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1922" y="618890"/>
            <a:ext cx="6390174" cy="381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1" name="Google Shape;241;p45"/>
          <p:cNvGraphicFramePr/>
          <p:nvPr/>
        </p:nvGraphicFramePr>
        <p:xfrm>
          <a:off x="952500" y="666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{8534DA98-6454-457D-A624-52C7AB3A84CF}</a:tableStyleId>
              </a:tblPr>
              <a:tblGrid>
                <a:gridCol w="2942075"/>
                <a:gridCol w="4296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Checked Exceptions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Description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IOException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Error during input/output operations (e.g., reading a file)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FileNotFoundException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File not found during file handling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InterruptedException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Thread interruption occurred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Unc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hecked Exceptions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ArithmeticException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Illegal arithmetic operation (e.g., divide by zero)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NullPointerException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Accessing object with a null reference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ArrayIndexOutOfBoundsException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Accessing invalid array index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NumberFormatException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Conversion of invalid string to number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"/>
          <p:cNvSpPr txBox="1"/>
          <p:nvPr/>
        </p:nvSpPr>
        <p:spPr>
          <a:xfrm>
            <a:off x="2081914" y="1529825"/>
            <a:ext cx="60570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2"/>
                </a:solidFill>
              </a:rPr>
              <a:t>Collection Framework</a:t>
            </a:r>
            <a:endParaRPr b="1" sz="3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7"/>
          <p:cNvSpPr txBox="1"/>
          <p:nvPr/>
        </p:nvSpPr>
        <p:spPr>
          <a:xfrm>
            <a:off x="250675" y="250675"/>
            <a:ext cx="87390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ArrayList</a:t>
            </a:r>
            <a:endParaRPr b="1" sz="18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A dynamic array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Can store duplicate values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Values are stored in insertion order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HashSet</a:t>
            </a:r>
            <a:endParaRPr b="1" sz="18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A dynamic array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Can store only unique values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Values are ordered using a hash function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HashMap</a:t>
            </a:r>
            <a:endParaRPr b="1" sz="18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A collection of key-value pairs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Keys are unique but values can be duplicate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Values are ordered using a hash function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