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8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47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60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</p:sldIdLst>
  <p:sldSz cy="5143500" cx="9144000"/>
  <p:notesSz cx="6858000" cy="9144000"/>
  <p:embeddedFontLst>
    <p:embeddedFont>
      <p:font typeface="Cormorant Garamond"/>
      <p:regular r:id="rId56"/>
      <p:bold r:id="rId57"/>
      <p:italic r:id="rId58"/>
      <p:boldItalic r:id="rId59"/>
    </p:embeddedFont>
    <p:embeddedFont>
      <p:font typeface="Roboto"/>
      <p:regular r:id="rId60"/>
      <p:bold r:id="rId61"/>
      <p:italic r:id="rId62"/>
      <p:boldItalic r:id="rId63"/>
    </p:embeddedFont>
    <p:embeddedFont>
      <p:font typeface="Roboto Mono"/>
      <p:regular r:id="rId64"/>
      <p:bold r:id="rId65"/>
      <p:italic r:id="rId66"/>
      <p:boldItalic r:id="rId6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68" roundtripDataSignature="AMtx7mjBLfDGNx1CwYsfFsDZy2KGGIuzO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A49F4E8-0618-4DCF-9C47-1FE6FB7F00FE}">
  <a:tblStyle styleId="{9A49F4E8-0618-4DCF-9C47-1FE6FB7F00FE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3.xml"/><Relationship Id="rId42" Type="http://schemas.openxmlformats.org/officeDocument/2006/relationships/slide" Target="slides/slide35.xml"/><Relationship Id="rId41" Type="http://schemas.openxmlformats.org/officeDocument/2006/relationships/slide" Target="slides/slide34.xml"/><Relationship Id="rId44" Type="http://schemas.openxmlformats.org/officeDocument/2006/relationships/slide" Target="slides/slide37.xml"/><Relationship Id="rId43" Type="http://schemas.openxmlformats.org/officeDocument/2006/relationships/slide" Target="slides/slide36.xml"/><Relationship Id="rId46" Type="http://schemas.openxmlformats.org/officeDocument/2006/relationships/slide" Target="slides/slide39.xml"/><Relationship Id="rId45" Type="http://schemas.openxmlformats.org/officeDocument/2006/relationships/slide" Target="slides/slide3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48" Type="http://schemas.openxmlformats.org/officeDocument/2006/relationships/slide" Target="slides/slide41.xml"/><Relationship Id="rId47" Type="http://schemas.openxmlformats.org/officeDocument/2006/relationships/slide" Target="slides/slide40.xml"/><Relationship Id="rId49" Type="http://schemas.openxmlformats.org/officeDocument/2006/relationships/slide" Target="slides/slide42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9" Type="http://schemas.openxmlformats.org/officeDocument/2006/relationships/slide" Target="slides/slide32.xml"/><Relationship Id="rId38" Type="http://schemas.openxmlformats.org/officeDocument/2006/relationships/slide" Target="slides/slide31.xml"/><Relationship Id="rId62" Type="http://schemas.openxmlformats.org/officeDocument/2006/relationships/font" Target="fonts/Roboto-italic.fntdata"/><Relationship Id="rId61" Type="http://schemas.openxmlformats.org/officeDocument/2006/relationships/font" Target="fonts/Roboto-bold.fntdata"/><Relationship Id="rId20" Type="http://schemas.openxmlformats.org/officeDocument/2006/relationships/slide" Target="slides/slide13.xml"/><Relationship Id="rId64" Type="http://schemas.openxmlformats.org/officeDocument/2006/relationships/font" Target="fonts/RobotoMono-regular.fntdata"/><Relationship Id="rId63" Type="http://schemas.openxmlformats.org/officeDocument/2006/relationships/font" Target="fonts/Roboto-boldItalic.fntdata"/><Relationship Id="rId22" Type="http://schemas.openxmlformats.org/officeDocument/2006/relationships/slide" Target="slides/slide15.xml"/><Relationship Id="rId66" Type="http://schemas.openxmlformats.org/officeDocument/2006/relationships/font" Target="fonts/RobotoMono-italic.fntdata"/><Relationship Id="rId21" Type="http://schemas.openxmlformats.org/officeDocument/2006/relationships/slide" Target="slides/slide14.xml"/><Relationship Id="rId65" Type="http://schemas.openxmlformats.org/officeDocument/2006/relationships/font" Target="fonts/RobotoMono-bold.fntdata"/><Relationship Id="rId24" Type="http://schemas.openxmlformats.org/officeDocument/2006/relationships/slide" Target="slides/slide17.xml"/><Relationship Id="rId68" Type="http://customschemas.google.com/relationships/presentationmetadata" Target="metadata"/><Relationship Id="rId23" Type="http://schemas.openxmlformats.org/officeDocument/2006/relationships/slide" Target="slides/slide16.xml"/><Relationship Id="rId67" Type="http://schemas.openxmlformats.org/officeDocument/2006/relationships/font" Target="fonts/RobotoMono-boldItalic.fntdata"/><Relationship Id="rId60" Type="http://schemas.openxmlformats.org/officeDocument/2006/relationships/font" Target="fonts/Roboto-regular.fntdata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9" Type="http://schemas.openxmlformats.org/officeDocument/2006/relationships/slide" Target="slides/slide22.xml"/><Relationship Id="rId51" Type="http://schemas.openxmlformats.org/officeDocument/2006/relationships/slide" Target="slides/slide44.xml"/><Relationship Id="rId50" Type="http://schemas.openxmlformats.org/officeDocument/2006/relationships/slide" Target="slides/slide43.xml"/><Relationship Id="rId53" Type="http://schemas.openxmlformats.org/officeDocument/2006/relationships/slide" Target="slides/slide46.xml"/><Relationship Id="rId52" Type="http://schemas.openxmlformats.org/officeDocument/2006/relationships/slide" Target="slides/slide45.xml"/><Relationship Id="rId11" Type="http://schemas.openxmlformats.org/officeDocument/2006/relationships/slide" Target="slides/slide4.xml"/><Relationship Id="rId55" Type="http://schemas.openxmlformats.org/officeDocument/2006/relationships/slide" Target="slides/slide48.xml"/><Relationship Id="rId10" Type="http://schemas.openxmlformats.org/officeDocument/2006/relationships/slide" Target="slides/slide3.xml"/><Relationship Id="rId54" Type="http://schemas.openxmlformats.org/officeDocument/2006/relationships/slide" Target="slides/slide47.xml"/><Relationship Id="rId13" Type="http://schemas.openxmlformats.org/officeDocument/2006/relationships/slide" Target="slides/slide6.xml"/><Relationship Id="rId57" Type="http://schemas.openxmlformats.org/officeDocument/2006/relationships/font" Target="fonts/CormorantGaramond-bold.fntdata"/><Relationship Id="rId12" Type="http://schemas.openxmlformats.org/officeDocument/2006/relationships/slide" Target="slides/slide5.xml"/><Relationship Id="rId56" Type="http://schemas.openxmlformats.org/officeDocument/2006/relationships/font" Target="fonts/CormorantGaramond-regular.fntdata"/><Relationship Id="rId15" Type="http://schemas.openxmlformats.org/officeDocument/2006/relationships/slide" Target="slides/slide8.xml"/><Relationship Id="rId59" Type="http://schemas.openxmlformats.org/officeDocument/2006/relationships/font" Target="fonts/CormorantGaramond-boldItalic.fntdata"/><Relationship Id="rId14" Type="http://schemas.openxmlformats.org/officeDocument/2006/relationships/slide" Target="slides/slide7.xml"/><Relationship Id="rId58" Type="http://schemas.openxmlformats.org/officeDocument/2006/relationships/font" Target="fonts/CormorantGaramond-italic.fntdata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3fe304cd4_0_1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" name="Google Shape;97;g3a3fe304cd4_0_1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a3fe304cd4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a3fe304cd4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a3fe304cd4_0_1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" name="Google Shape;114;g3a3fe304cd4_0_1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3fe304cd4_0_1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3fe304cd4_0_1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a3fe304cd4_0_17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a3fe304cd4_0_1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a3fe304cd4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a3fe304cd4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3fe304cd4_0_1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3fe304cd4_0_1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a3fe304cd4_0_1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a3fe304cd4_0_1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a3fe304cd4_0_1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a3fe304cd4_0_1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a3fe304cd4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a3fe304cd4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a3fe304cd4_0_2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a3fe304cd4_0_2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3fe304cd4_0_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a3fe304cd4_0_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3fe304cd4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3fe304cd4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g3a3fe304cd4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0" name="Google Shape;170;g3a3fe304cd4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a3fe304cd4_0_2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a3fe304cd4_0_2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a3fe304cd4_0_2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g3a3fe304cd4_0_2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3a3fe304cd4_0_2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3a3fe304cd4_0_2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3fe304cd4_0_2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3fe304cd4_0_2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a3fe304cd4_0_2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a3fe304cd4_0_2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a3fe304cd4_0_2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3a3fe304cd4_0_2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3a3fe304cd4_0_2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5" name="Google Shape;205;g3a3fe304cd4_0_2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g3a3fe304cd4_0_2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0" name="Google Shape;210;g3a3fe304cd4_0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g3a3fe304cd4_0_2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9" name="Google Shape;219;g3a3fe304cd4_0_2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a3fe304cd4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4" name="Google Shape;224;g3a3fe304cd4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g3ad8e2f9fd3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9" name="Google Shape;229;g3ad8e2f9fd3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g3ad8e2f9fd3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4" name="Google Shape;234;g3ad8e2f9fd3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d8e2f9fd3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d8e2f9fd3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ad8e2f9fd3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ad8e2f9fd3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g3ad8e2f9fd3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1" name="Google Shape;271;g3ad8e2f9fd3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g3ad8e2f9fd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6" name="Google Shape;276;g3ad8e2f9fd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g3adecd9d7e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1" name="Google Shape;281;g3adecd9d7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decd9d7e1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decd9d7e1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adecd9d7e1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1" name="Google Shape;291;g3adecd9d7e1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3ae9a533837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3ae9a533837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g3ae9a533837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1" name="Google Shape;301;g3ae9a533837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3ae9a533837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3ae9a533837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g3ae9a533837_0_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1" name="Google Shape;311;g3ae9a533837_0_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e9a533837_0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e9a533837_0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ae9a53383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ae9a53383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g3ae9a533837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6" name="Google Shape;326;g3ae9a533837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ae9a533837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ae9a533837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ae9a533837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6" name="Google Shape;336;g3ae9a533837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g3a5fc22213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1" name="Google Shape;341;g3a5fc22213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3a5fc222138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6" name="Google Shape;346;g3a5fc222138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g3a5fc222138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2" name="Google Shape;352;g3a5fc222138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g3a5fc222138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7" name="Google Shape;357;g3a5fc222138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a5fc222138_0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5" name="Google Shape;365;g3a5fc222138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3a5fc222138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0" name="Google Shape;370;g3a5fc222138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1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g39a0872b79a_0_7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g39a0872b79a_0_7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g39a0872b79a_0_7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13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15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1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1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1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8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9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9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ae9a533837_0_121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g3ae9a533837_0_121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g3ae9a533837_0_1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ae9a533837_0_1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g3ae9a533837_0_1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e9a533837_0_1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3" name="Google Shape;63;g3ae9a533837_0_1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4" name="Google Shape;64;g3ae9a533837_0_1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ae9a533837_0_1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g3ae9a533837_0_13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g3ae9a533837_0_13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g3ae9a533837_0_1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ae9a533837_0_1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g3ae9a533837_0_1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e9a533837_0_140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g3ae9a533837_0_140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g3ae9a533837_0_14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ae9a533837_0_144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g3ae9a533837_0_14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ae9a533837_0_147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ae9a533837_0_147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g3ae9a533837_0_147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g3ae9a533837_0_147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5" name="Google Shape;85;g3ae9a533837_0_14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ae9a533837_0_153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8" name="Google Shape;88;g3ae9a533837_0_15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ae9a533837_0_15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g3ae9a533837_0_15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2" name="Google Shape;92;g3ae9a533837_0_15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ae9a533837_0_1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ae9a533837_0_1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2" name="Google Shape;52;g3ae9a533837_0_1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3" name="Google Shape;53;g3ae9a533837_0_1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5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6.xml"/><Relationship Id="rId3" Type="http://schemas.openxmlformats.org/officeDocument/2006/relationships/hyperlink" Target="https://appium.readthedocs.io/en/latest/en/writing-running-appium/ios/ios-xctest-mobile-gestures/" TargetMode="Externa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6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a3fe304cd4_0_153"/>
          <p:cNvSpPr txBox="1"/>
          <p:nvPr/>
        </p:nvSpPr>
        <p:spPr>
          <a:xfrm>
            <a:off x="1749155" y="1972075"/>
            <a:ext cx="58767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Appium Architecture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3fe304cd4_0_157"/>
          <p:cNvSpPr/>
          <p:nvPr/>
        </p:nvSpPr>
        <p:spPr>
          <a:xfrm>
            <a:off x="61726" y="733128"/>
            <a:ext cx="8747731" cy="2364189"/>
          </a:xfrm>
          <a:custGeom>
            <a:rect b="b" l="l" r="r" t="t"/>
            <a:pathLst>
              <a:path extrusionOk="0" h="3990193" w="15346897">
                <a:moveTo>
                  <a:pt x="0" y="0"/>
                </a:moveTo>
                <a:lnTo>
                  <a:pt x="15346897" y="0"/>
                </a:lnTo>
                <a:lnTo>
                  <a:pt x="15346897" y="3990193"/>
                </a:lnTo>
                <a:lnTo>
                  <a:pt x="0" y="399019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05" name="Google Shape;105;g3a3fe304cd4_0_157"/>
          <p:cNvSpPr txBox="1"/>
          <p:nvPr/>
        </p:nvSpPr>
        <p:spPr>
          <a:xfrm>
            <a:off x="728660" y="1742606"/>
            <a:ext cx="2031900" cy="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W3C WebDriver protocol</a:t>
            </a:r>
            <a:endParaRPr sz="600">
              <a:solidFill>
                <a:schemeClr val="dk1"/>
              </a:solidFill>
            </a:endParaRPr>
          </a:p>
        </p:txBody>
      </p:sp>
      <p:sp>
        <p:nvSpPr>
          <p:cNvPr id="106" name="Google Shape;106;g3a3fe304cd4_0_157"/>
          <p:cNvSpPr txBox="1"/>
          <p:nvPr/>
        </p:nvSpPr>
        <p:spPr>
          <a:xfrm>
            <a:off x="2314819" y="2715864"/>
            <a:ext cx="1778400" cy="21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Appium Server</a:t>
            </a:r>
            <a:endParaRPr sz="800">
              <a:solidFill>
                <a:schemeClr val="dk1"/>
              </a:solidFill>
            </a:endParaRPr>
          </a:p>
        </p:txBody>
      </p:sp>
      <p:sp>
        <p:nvSpPr>
          <p:cNvPr id="107" name="Google Shape;107;g3a3fe304cd4_0_157"/>
          <p:cNvSpPr txBox="1"/>
          <p:nvPr/>
        </p:nvSpPr>
        <p:spPr>
          <a:xfrm>
            <a:off x="4900584" y="1480052"/>
            <a:ext cx="2026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XCUITest Engine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108" name="Google Shape;108;g3a3fe304cd4_0_157"/>
          <p:cNvSpPr txBox="1"/>
          <p:nvPr/>
        </p:nvSpPr>
        <p:spPr>
          <a:xfrm>
            <a:off x="4868409" y="3084445"/>
            <a:ext cx="2026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">
                <a:solidFill>
                  <a:schemeClr val="dk1"/>
                </a:solidFill>
              </a:rPr>
              <a:t>UiAutomator2</a:t>
            </a:r>
            <a:r>
              <a:rPr b="0" i="0" lang="en" sz="1066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Engine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109" name="Google Shape;109;g3a3fe304cd4_0_157"/>
          <p:cNvSpPr txBox="1"/>
          <p:nvPr/>
        </p:nvSpPr>
        <p:spPr>
          <a:xfrm>
            <a:off x="7412020" y="1642652"/>
            <a:ext cx="2026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">
                <a:solidFill>
                  <a:schemeClr val="dk1"/>
                </a:solidFill>
              </a:rPr>
              <a:t>iPhone/Simulator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110" name="Google Shape;110;g3a3fe304cd4_0_157"/>
          <p:cNvSpPr txBox="1"/>
          <p:nvPr/>
        </p:nvSpPr>
        <p:spPr>
          <a:xfrm>
            <a:off x="7330624" y="3247045"/>
            <a:ext cx="2026800" cy="164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7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66">
                <a:solidFill>
                  <a:schemeClr val="dk1"/>
                </a:solidFill>
              </a:rPr>
              <a:t>Android Phone/Emulator</a:t>
            </a:r>
            <a:endParaRPr sz="500">
              <a:solidFill>
                <a:schemeClr val="dk1"/>
              </a:solidFill>
            </a:endParaRPr>
          </a:p>
        </p:txBody>
      </p:sp>
      <p:sp>
        <p:nvSpPr>
          <p:cNvPr id="111" name="Google Shape;111;g3a3fe304cd4_0_157"/>
          <p:cNvSpPr txBox="1"/>
          <p:nvPr/>
        </p:nvSpPr>
        <p:spPr>
          <a:xfrm>
            <a:off x="49220" y="3510873"/>
            <a:ext cx="9144000" cy="1524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2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500" u="none" cap="none" strike="noStrike">
                <a:solidFill>
                  <a:schemeClr val="dk1"/>
                </a:solidFill>
              </a:rPr>
              <a:t>Key Components:</a:t>
            </a:r>
            <a:endParaRPr b="1" sz="1500">
              <a:solidFill>
                <a:schemeClr val="dk1"/>
              </a:solidFill>
            </a:endParaRPr>
          </a:p>
          <a:p>
            <a:pPr indent="-217826" lvl="1" marL="595293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Appium Client – your code written in Java, Python, etc.</a:t>
            </a:r>
            <a:endParaRPr sz="1500">
              <a:solidFill>
                <a:schemeClr val="dk1"/>
              </a:solidFill>
            </a:endParaRPr>
          </a:p>
          <a:p>
            <a:pPr indent="-217826" lvl="1" marL="595293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Appium Server – a light-weight node.js server file.</a:t>
            </a:r>
            <a:endParaRPr sz="1500">
              <a:solidFill>
                <a:schemeClr val="dk1"/>
              </a:solidFill>
            </a:endParaRPr>
          </a:p>
          <a:p>
            <a:pPr indent="-217826" lvl="1" marL="595293" marR="0" rtl="0" algn="l">
              <a:lnSpc>
                <a:spcPct val="140007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Appium Drivers – UiAutomator2/XCUITest converting WebDriver commands to platform-native commands. </a:t>
            </a:r>
            <a:endParaRPr sz="1500">
              <a:solidFill>
                <a:schemeClr val="dk1"/>
              </a:solidFill>
            </a:endParaRPr>
          </a:p>
          <a:p>
            <a:pPr indent="-222385" lvl="1" marL="617364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</a:pPr>
            <a:r>
              <a:rPr b="0" i="0" lang="en" sz="1500" u="none" cap="none" strike="noStrike">
                <a:solidFill>
                  <a:schemeClr val="dk1"/>
                </a:solidFill>
                <a:latin typeface="Cormorant Garamond"/>
                <a:ea typeface="Cormorant Garamond"/>
                <a:cs typeface="Cormorant Garamond"/>
                <a:sym typeface="Cormorant Garamond"/>
              </a:rPr>
              <a:t>Device under Test (D.U.T) – Physical Device/Emulator/Simulator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3fe304cd4_0_168"/>
          <p:cNvSpPr txBox="1"/>
          <p:nvPr/>
        </p:nvSpPr>
        <p:spPr>
          <a:xfrm>
            <a:off x="1749155" y="1972075"/>
            <a:ext cx="58767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Launching a Pre-installed App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3fe304cd4_0_172"/>
          <p:cNvSpPr txBox="1"/>
          <p:nvPr/>
        </p:nvSpPr>
        <p:spPr>
          <a:xfrm>
            <a:off x="102650" y="431825"/>
            <a:ext cx="88812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How to get your simulator details?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$ xcrun simctl list devices available  #returns a list of simulators created using XCode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$ xcrun simctl list devices booted</a:t>
            </a:r>
            <a:r>
              <a:rPr lang="en" sz="1350">
                <a:solidFill>
                  <a:schemeClr val="dk1"/>
                </a:solidFill>
              </a:rPr>
              <a:t>       </a:t>
            </a:r>
            <a:r>
              <a:rPr lang="en" sz="1800">
                <a:solidFill>
                  <a:schemeClr val="dk2"/>
                </a:solidFill>
              </a:rPr>
              <a:t>#returns a list of UDIDs of running simulators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3fe304cd4_0_176"/>
          <p:cNvSpPr txBox="1"/>
          <p:nvPr/>
        </p:nvSpPr>
        <p:spPr>
          <a:xfrm>
            <a:off x="379375" y="431825"/>
            <a:ext cx="8310900" cy="3990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How to get your app details?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arenR"/>
            </a:pPr>
            <a:r>
              <a:rPr lang="en" sz="1600">
                <a:solidFill>
                  <a:schemeClr val="dk2"/>
                </a:solidFill>
              </a:rPr>
              <a:t>Keep your app open.</a:t>
            </a:r>
            <a:endParaRPr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2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600"/>
              <a:buAutoNum type="arabicParenR"/>
            </a:pPr>
            <a:r>
              <a:rPr lang="en" sz="1600">
                <a:solidFill>
                  <a:schemeClr val="dk2"/>
                </a:solidFill>
              </a:rPr>
              <a:t>In terminal, run the below command</a:t>
            </a:r>
            <a:endParaRPr sz="1600">
              <a:solidFill>
                <a:schemeClr val="dk2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$ xcrun simctl listapps booted | grep -E 'CFBundleIdentifier'</a:t>
            </a:r>
            <a:endParaRPr sz="15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a3fe304cd4_0_180"/>
          <p:cNvSpPr txBox="1"/>
          <p:nvPr/>
        </p:nvSpPr>
        <p:spPr>
          <a:xfrm>
            <a:off x="556300" y="424975"/>
            <a:ext cx="8191200" cy="33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//Step 1: Define your criteria to search for a device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XCUITestOptions options = new XCUITestOptions();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options.</a:t>
            </a:r>
            <a:r>
              <a:rPr b="1" lang="en" sz="1200">
                <a:solidFill>
                  <a:schemeClr val="dk1"/>
                </a:solidFill>
              </a:rPr>
              <a:t>setDeviceName</a:t>
            </a:r>
            <a:r>
              <a:rPr lang="en" sz="1200">
                <a:solidFill>
                  <a:schemeClr val="dk1"/>
                </a:solidFill>
              </a:rPr>
              <a:t>("iPhone 15"); //find the name using “xcrun simctl list devices booted” command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options.</a:t>
            </a:r>
            <a:r>
              <a:rPr b="1" lang="en" sz="1200">
                <a:solidFill>
                  <a:schemeClr val="dk1"/>
                </a:solidFill>
              </a:rPr>
              <a:t>setPlatformVersion</a:t>
            </a:r>
            <a:r>
              <a:rPr lang="en" sz="1200">
                <a:solidFill>
                  <a:schemeClr val="dk1"/>
                </a:solidFill>
              </a:rPr>
              <a:t>("17.0");</a:t>
            </a:r>
            <a:endParaRPr sz="10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//Step 2: Connect to the Appium server along with the search criteria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IOSDriver driver = new IOSDriver(new URL("http://127.0.0.1:4723"), options);</a:t>
            </a:r>
            <a:endParaRPr sz="10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00">
                <a:solidFill>
                  <a:schemeClr val="dk1"/>
                </a:solidFill>
              </a:rPr>
              <a:t>//Step 3: Launch the app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HashMap&lt;String, Object&gt; params = new HashMap&lt;&gt;();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params.put("bundleId", bundleId);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driver.executeScript("mobile: launchApp", params);</a:t>
            </a:r>
            <a:endParaRPr sz="10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3fe304cd4_0_184"/>
          <p:cNvSpPr txBox="1"/>
          <p:nvPr/>
        </p:nvSpPr>
        <p:spPr>
          <a:xfrm>
            <a:off x="556300" y="424975"/>
            <a:ext cx="8191200" cy="259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When to use which option?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XCUITestOptions options = new XCUITestOptions();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//Option 1: to launch an simulator/physical device and connect to it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options.setDeviceName("iPhone 15");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options.setPlatformVersion("17.0");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//Option 2: to connect to an already running simulator/physical device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options.setUdid("8F027E83-A5B4-400C-AD0D-47B9AB8226D2");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a3fe304cd4_0_188"/>
          <p:cNvSpPr txBox="1"/>
          <p:nvPr/>
        </p:nvSpPr>
        <p:spPr>
          <a:xfrm>
            <a:off x="1749155" y="1972075"/>
            <a:ext cx="58767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Launching an app using .app file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a3fe304cd4_0_192"/>
          <p:cNvSpPr txBox="1"/>
          <p:nvPr/>
        </p:nvSpPr>
        <p:spPr>
          <a:xfrm>
            <a:off x="354975" y="424975"/>
            <a:ext cx="85248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//Step 1: Define your criteria to search for a device along with .app file details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XCUITestOptions options = new XCUITestOptions();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</a:rPr>
              <a:t>options.</a:t>
            </a:r>
            <a:r>
              <a:rPr b="1" lang="en" sz="1200">
                <a:solidFill>
                  <a:schemeClr val="dk1"/>
                </a:solidFill>
              </a:rPr>
              <a:t>setDeviceName</a:t>
            </a:r>
            <a:r>
              <a:rPr lang="en" sz="1200">
                <a:solidFill>
                  <a:schemeClr val="dk1"/>
                </a:solidFill>
              </a:rPr>
              <a:t>("iPhone 15"); //find the name using “xcrun simctl list devices booted” command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options.</a:t>
            </a:r>
            <a:r>
              <a:rPr b="1" lang="en" sz="1200">
                <a:solidFill>
                  <a:schemeClr val="dk1"/>
                </a:solidFill>
              </a:rPr>
              <a:t>setPlatformVersion</a:t>
            </a:r>
            <a:r>
              <a:rPr lang="en" sz="1200">
                <a:solidFill>
                  <a:schemeClr val="dk1"/>
                </a:solidFill>
              </a:rPr>
              <a:t>("17.0");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options.</a:t>
            </a:r>
            <a:r>
              <a:rPr b="1" lang="en" sz="1200">
                <a:solidFill>
                  <a:schemeClr val="dk1"/>
                </a:solidFill>
              </a:rPr>
              <a:t>setApp</a:t>
            </a:r>
            <a:r>
              <a:rPr lang="en" sz="1200">
                <a:solidFill>
                  <a:schemeClr val="dk1"/>
                </a:solidFill>
              </a:rPr>
              <a:t>(System.getProperty("user.dir") </a:t>
            </a:r>
            <a:r>
              <a:rPr lang="en" sz="1000">
                <a:solidFill>
                  <a:schemeClr val="dk1"/>
                </a:solidFill>
                <a:highlight>
                  <a:srgbClr val="FFFFFF"/>
                </a:highlight>
              </a:rPr>
              <a:t>+</a:t>
            </a:r>
            <a:r>
              <a:rPr lang="en" sz="1200">
                <a:solidFill>
                  <a:schemeClr val="dk1"/>
                </a:solidFill>
              </a:rPr>
              <a:t> "src/test/resources/UIKitCatalog.app");</a:t>
            </a:r>
            <a:endParaRPr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</a:rPr>
              <a:t>//Step 2:</a:t>
            </a:r>
            <a:r>
              <a:rPr lang="en" sz="1200">
                <a:solidFill>
                  <a:schemeClr val="dk1"/>
                </a:solidFill>
              </a:rPr>
              <a:t> </a:t>
            </a:r>
            <a:r>
              <a:rPr b="1" lang="en" sz="1200">
                <a:solidFill>
                  <a:schemeClr val="dk1"/>
                </a:solidFill>
              </a:rPr>
              <a:t>Connect to the Appium server along with the search criteria  </a:t>
            </a:r>
            <a:endParaRPr b="1" sz="12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</a:rPr>
              <a:t>AppiumDriver driver = new IOSDriver(new URL("http://127.0.0.1:4723"), options);</a:t>
            </a:r>
            <a:endParaRPr sz="1000">
              <a:solidFill>
                <a:srgbClr val="F8F8F2"/>
              </a:solidFill>
              <a:highlight>
                <a:srgbClr val="282A36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a3fe304cd4_0_196"/>
          <p:cNvSpPr txBox="1"/>
          <p:nvPr/>
        </p:nvSpPr>
        <p:spPr>
          <a:xfrm>
            <a:off x="3211675" y="1972075"/>
            <a:ext cx="3235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Finding Elements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3a3fe304cd4_0_200"/>
          <p:cNvSpPr txBox="1"/>
          <p:nvPr/>
        </p:nvSpPr>
        <p:spPr>
          <a:xfrm>
            <a:off x="162850" y="362225"/>
            <a:ext cx="87006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WebElement element = driver.findElement(AppiumBy locator);</a:t>
            </a:r>
            <a:endParaRPr sz="1800">
              <a:solidFill>
                <a:schemeClr val="dk2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</a:pPr>
            <a:r>
              <a:rPr lang="en" sz="1800">
                <a:solidFill>
                  <a:schemeClr val="dk2"/>
                </a:solidFill>
              </a:rPr>
              <a:t>List&lt;WebElement&gt; elementList = driver.findElements(AppiumBy locator);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7" name="Google Shape;157;g3a3fe304cd4_0_20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19363" y="1478879"/>
            <a:ext cx="6200775" cy="340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a3fe304cd4_0_205"/>
          <p:cNvSpPr txBox="1"/>
          <p:nvPr/>
        </p:nvSpPr>
        <p:spPr>
          <a:xfrm>
            <a:off x="1754742" y="1980131"/>
            <a:ext cx="5497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Locator Strategies in Android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67" name="Google Shape;167;g3a3fe304cd4_0_209"/>
          <p:cNvGraphicFramePr/>
          <p:nvPr/>
        </p:nvGraphicFramePr>
        <p:xfrm>
          <a:off x="152400" y="22395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{9A49F4E8-0618-4DCF-9C47-1FE6FB7F00FE}</a:tableStyleId>
              </a:tblPr>
              <a:tblGrid>
                <a:gridCol w="2474925"/>
                <a:gridCol w="2788400"/>
                <a:gridCol w="3573325"/>
              </a:tblGrid>
              <a:tr h="1619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Strategy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Corresponding Attribute in Appium Inspector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Description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00"/>
                          </a:highlight>
                        </a:rPr>
                        <a:t>AppiumBy.accessibilityId("...");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content-desc (in android)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name (in ios)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This is the fastest. 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To be used when the element is same in both android and ios.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AppiumBy.className(“...”)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class-name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Using the class of an element.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34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AppiumBy.xpath("...")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uses the DOM of the page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Basic syntax: //tag[@attribute=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'</a:t>
                      </a:r>
                      <a:r>
                        <a:rPr lang="en" sz="1000"/>
                        <a:t>value</a:t>
                      </a:r>
                      <a:r>
                        <a:rPr lang="en" sz="1000">
                          <a:solidFill>
                            <a:schemeClr val="dk1"/>
                          </a:solidFill>
                        </a:rPr>
                        <a:t>'</a:t>
                      </a:r>
                      <a:r>
                        <a:rPr lang="en" sz="1000"/>
                        <a:t>] 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E.g: //XCUIElementTypeStaticText[@text='India']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Not recommended to use.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00"/>
                          </a:highlight>
                        </a:rPr>
                        <a:t>AppiumBy.iOSClassChain("...")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for all attributes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Developed by Apple developers for iOS apps only.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Supports indexing &amp; hierarchy hops.</a:t>
                      </a:r>
                      <a:endParaRPr sz="1000"/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Synonymous to Xpath.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85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highlight>
                            <a:srgbClr val="FFFF00"/>
                          </a:highlight>
                        </a:rPr>
                        <a:t>AppiumBy.iOSNsPredicateString("...")</a:t>
                      </a:r>
                      <a:endParaRPr sz="1000">
                        <a:highlight>
                          <a:srgbClr val="FFFF00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/>
                        <a:t>for all attributes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Developed by Apple developers for iOS apps only.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Supports filtering based on element attributes.</a:t>
                      </a:r>
                      <a:endParaRPr sz="1000">
                        <a:solidFill>
                          <a:schemeClr val="dk1"/>
                        </a:solidFill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</a:rPr>
                        <a:t>Synonymous to CSS Selector.</a:t>
                      </a:r>
                      <a:endParaRPr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2" name="Google Shape;172;g3a3fe304cd4_0_213"/>
          <p:cNvGraphicFramePr/>
          <p:nvPr/>
        </p:nvGraphicFramePr>
        <p:xfrm>
          <a:off x="226230" y="140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{9A49F4E8-0618-4DCF-9C47-1FE6FB7F00FE}</a:tableStyleId>
              </a:tblPr>
              <a:tblGrid>
                <a:gridCol w="5430475"/>
                <a:gridCol w="382850"/>
                <a:gridCol w="2558825"/>
              </a:tblGrid>
              <a:tr h="302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 IOSClassChain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Comments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**/XCUIElementTypeCell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Using field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**/XCUIElementTypeCell[`name == ‘General’`]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Using </a:t>
                      </a:r>
                      <a:r>
                        <a:rPr lang="en" sz="1050">
                          <a:solidFill>
                            <a:schemeClr val="dk1"/>
                          </a:solidFill>
                        </a:rPr>
                        <a:t>field with attribute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**/XCUIElementTypeCell[`name == ‘General’`]/**/XCUIElementTypeStaticText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parent-child hierarchy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**/XCUIElementTypeCell[1]/XCUIElementTypeButton[`visible == 1`]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immediate parent-child hierarchy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**/XCUIElementTypeStaticText[`value == “General” OR label == “General”`]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operators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**/XCUIElementTypeStaticText[`value == “General” AND label == “General”`]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**/XCUIElementTypeButton[`label CONTAINS “Log”`]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contains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**/XCUIElementTypeButton[`label BEGINSWITH “Log”`]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begins with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50">
                          <a:solidFill>
                            <a:schemeClr val="dk1"/>
                          </a:solidFill>
                        </a:rPr>
                        <a:t>**/XCUIElementTypeCell[3]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/>
                        <a:t>Using index</a:t>
                      </a:r>
                      <a:endParaRPr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7" name="Google Shape;177;g3a3fe304cd4_0_217"/>
          <p:cNvGraphicFramePr/>
          <p:nvPr/>
        </p:nvGraphicFramePr>
        <p:xfrm>
          <a:off x="226230" y="140054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{9A49F4E8-0618-4DCF-9C47-1FE6FB7F00FE}</a:tableStyleId>
              </a:tblPr>
              <a:tblGrid>
                <a:gridCol w="5430475"/>
                <a:gridCol w="382850"/>
                <a:gridCol w="2558825"/>
              </a:tblGrid>
              <a:tr h="3020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 IOSNsPredicateString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000"/>
                        <a:t>Comments</a:t>
                      </a:r>
                      <a:endParaRPr b="1" sz="10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label == “value”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Exact match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name != “value”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Not equal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enabled == true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Using boolean properties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type == 'XCUIElementTypeButton'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Filter by type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label CONTAINS 'val'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Substring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name BEGINSWITH 'val'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Starts with</a:t>
                      </a:r>
                      <a:endParaRPr sz="16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label ENDSWITH 'val'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Ends with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name MATCHES 'regex'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Regex match</a:t>
                      </a:r>
                      <a:endParaRPr sz="12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type == 'XCUIElementTypeButton' AND label CONTAINS 'Log'</a:t>
                      </a:r>
                      <a:endParaRPr sz="11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row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Logical Operators</a:t>
                      </a:r>
                      <a:endParaRPr sz="13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390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50">
                          <a:solidFill>
                            <a:schemeClr val="dk1"/>
                          </a:solidFill>
                        </a:rPr>
                        <a:t>name == 'Submit' OR name == 'Continue'</a:t>
                      </a:r>
                      <a:endParaRPr sz="105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vMerge="1"/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a3fe304cd4_0_221"/>
          <p:cNvSpPr txBox="1"/>
          <p:nvPr/>
        </p:nvSpPr>
        <p:spPr>
          <a:xfrm>
            <a:off x="509625" y="370425"/>
            <a:ext cx="6795000" cy="213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2"/>
                </a:solidFill>
              </a:rPr>
              <a:t>Xpath Syntax</a:t>
            </a:r>
            <a:endParaRPr b="1" sz="19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/tagname1/tagname2[@attribute=’value’]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//tagname[@attribute=’value’]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87" name="Google Shape;187;g3a3fe304cd4_0_225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{9A49F4E8-0618-4DCF-9C47-1FE6FB7F00FE}</a:tableStyleId>
              </a:tblPr>
              <a:tblGrid>
                <a:gridCol w="5705475"/>
                <a:gridCol w="382850"/>
                <a:gridCol w="2560200"/>
              </a:tblGrid>
              <a:tr h="1619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Sample Xpath syntax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Comments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3799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//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XCUIElementTypeOther</a:t>
                      </a:r>
                      <a:r>
                        <a:rPr lang="en" sz="1200"/>
                        <a:t>[@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r>
                        <a:rPr lang="en" sz="1200"/>
                        <a:t>=’value’]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Generic syntax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//XCUIElementTypeOther[contains(@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 ‘value’)]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Using partial attribute value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//XCUIElementTypeStaticText[starts-with(@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, ‘value’)]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Using partial attribute value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//XCUIElementTypeTable[@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=‘value’]/XCUIElementTypeOther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Navigating to child element from a parent element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74550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//XCUIElementTypeStaticText[@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=‘value1’ and 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value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=‘value2’]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/>
                        <a:t>Using and operator for multiple values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//XCUIElementTypeStaticText[@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name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=‘value1’ or @</a:t>
                      </a:r>
                      <a:r>
                        <a:rPr lang="en" sz="1200">
                          <a:solidFill>
                            <a:schemeClr val="dk1"/>
                          </a:solidFill>
                          <a:highlight>
                            <a:srgbClr val="FAFAFA"/>
                          </a:highlight>
                          <a:latin typeface="Roboto"/>
                          <a:ea typeface="Roboto"/>
                          <a:cs typeface="Roboto"/>
                          <a:sym typeface="Roboto"/>
                        </a:rPr>
                        <a:t>alue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=‘value2’]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Using or operator for multiple values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2" name="Google Shape;192;g3a3fe304cd4_0_229"/>
          <p:cNvGraphicFramePr/>
          <p:nvPr/>
        </p:nvGraphicFramePr>
        <p:xfrm>
          <a:off x="152400" y="1524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{9A49F4E8-0618-4DCF-9C47-1FE6FB7F00FE}</a:tableStyleId>
              </a:tblPr>
              <a:tblGrid>
                <a:gridCol w="5705475"/>
                <a:gridCol w="382850"/>
                <a:gridCol w="2560200"/>
              </a:tblGrid>
              <a:tr h="161925">
                <a:tc gridSpan="2"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Sample Xpath syntax using Xpath Axes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/>
                        <a:t>Comments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D9D9"/>
                    </a:solidFill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//XCUIElementTypeStaticText[@text='current-element']/ancestor::XCUIElementTypeOther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Selects all ancestor elements (parent, grandparent, etc.) of the context node, up to the root element.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//XCUIElementTypeStaticText[@class='parent-element']/descendant::XCUIElementTypeOther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Selects all descendant elements (children, grandchildren, etc.) of the context node.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//XCUIElementTypeStaticText[@name='current-item']/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following-sibling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::XCUIElementTypeOther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Selects all sibling elements that appear after the context node and share the same parent.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61925">
                <a:tc gridSpan="2"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//XCUIElementTypeStaticText[@name='current-item']/</a:t>
                      </a:r>
                      <a:r>
                        <a:rPr b="1" lang="en" sz="1200">
                          <a:solidFill>
                            <a:schemeClr val="dk1"/>
                          </a:solidFill>
                        </a:rPr>
                        <a:t>preceding-sibling</a:t>
                      </a:r>
                      <a:r>
                        <a:rPr lang="en" sz="1200">
                          <a:solidFill>
                            <a:schemeClr val="dk1"/>
                          </a:solidFill>
                        </a:rPr>
                        <a:t>::XCUIElementTypeOther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chemeClr val="dk1"/>
                          </a:solidFill>
                        </a:rPr>
                        <a:t>Selects all sibling elements that appear before the context node and share the same parent.</a:t>
                      </a:r>
                      <a:endParaRPr sz="1200">
                        <a:solidFill>
                          <a:schemeClr val="dk1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a3fe304cd4_0_233"/>
          <p:cNvSpPr txBox="1"/>
          <p:nvPr/>
        </p:nvSpPr>
        <p:spPr>
          <a:xfrm>
            <a:off x="1754742" y="1980131"/>
            <a:ext cx="54978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Basic Actions on Elements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a3fe304cd4_0_237"/>
          <p:cNvSpPr txBox="1"/>
          <p:nvPr/>
        </p:nvSpPr>
        <p:spPr>
          <a:xfrm>
            <a:off x="305575" y="1261300"/>
            <a:ext cx="87006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WebElement element = driver.findElement(AppiumBy locator);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element.click();                                       //click on an element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element.sendKeys(“Hello World”);         //enter text inside a textbox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element.getAttribute(“text”);                   //get the attribute of an element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element.isDisplayed();                           //return true if element diplayed on screen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a3fe304cd4_0_241"/>
          <p:cNvSpPr txBox="1"/>
          <p:nvPr/>
        </p:nvSpPr>
        <p:spPr>
          <a:xfrm>
            <a:off x="2874572" y="1947175"/>
            <a:ext cx="311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Waits in Appium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2" name="Google Shape;212;g3a3fe304cd4_0_245"/>
          <p:cNvPicPr preferRelativeResize="0"/>
          <p:nvPr/>
        </p:nvPicPr>
        <p:blipFill rotWithShape="1">
          <a:blip r:embed="rId3">
            <a:alphaModFix/>
          </a:blip>
          <a:srcRect b="8727" l="0" r="0" t="2752"/>
          <a:stretch/>
        </p:blipFill>
        <p:spPr>
          <a:xfrm>
            <a:off x="525675" y="794125"/>
            <a:ext cx="8001501" cy="3359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g3a3fe304cd4_0_245"/>
          <p:cNvCxnSpPr/>
          <p:nvPr/>
        </p:nvCxnSpPr>
        <p:spPr>
          <a:xfrm rot="10800000">
            <a:off x="832650" y="585575"/>
            <a:ext cx="208500" cy="1366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4" name="Google Shape;214;g3a3fe304cd4_0_245"/>
          <p:cNvSpPr txBox="1"/>
          <p:nvPr/>
        </p:nvSpPr>
        <p:spPr>
          <a:xfrm>
            <a:off x="36600" y="113075"/>
            <a:ext cx="2464800" cy="55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800">
                <a:solidFill>
                  <a:schemeClr val="dk1"/>
                </a:solidFill>
              </a:rPr>
              <a:t>Applies globally to the entire driver session. You set it </a:t>
            </a:r>
            <a:r>
              <a:rPr i="1" lang="en" sz="800">
                <a:solidFill>
                  <a:schemeClr val="dk1"/>
                </a:solidFill>
              </a:rPr>
              <a:t>once</a:t>
            </a:r>
            <a:r>
              <a:rPr lang="en" sz="800">
                <a:solidFill>
                  <a:schemeClr val="dk1"/>
                </a:solidFill>
              </a:rPr>
              <a:t>, and every </a:t>
            </a:r>
            <a:r>
              <a:rPr lang="en" sz="800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findElement()</a:t>
            </a:r>
            <a:r>
              <a:rPr lang="en" sz="800">
                <a:solidFill>
                  <a:schemeClr val="dk1"/>
                </a:solidFill>
              </a:rPr>
              <a:t> will wait up to that time.</a:t>
            </a:r>
            <a:endParaRPr sz="800">
              <a:solidFill>
                <a:schemeClr val="dk1"/>
              </a:solidFill>
            </a:endParaRPr>
          </a:p>
        </p:txBody>
      </p:sp>
      <p:cxnSp>
        <p:nvCxnSpPr>
          <p:cNvPr id="215" name="Google Shape;215;g3a3fe304cd4_0_245"/>
          <p:cNvCxnSpPr/>
          <p:nvPr/>
        </p:nvCxnSpPr>
        <p:spPr>
          <a:xfrm flipH="1" rot="10800000">
            <a:off x="7248300" y="810575"/>
            <a:ext cx="435000" cy="1223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16" name="Google Shape;216;g3a3fe304cd4_0_245"/>
          <p:cNvSpPr txBox="1"/>
          <p:nvPr/>
        </p:nvSpPr>
        <p:spPr>
          <a:xfrm>
            <a:off x="6900075" y="406225"/>
            <a:ext cx="21885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dk1"/>
                </a:solidFill>
              </a:rPr>
              <a:t>Applies only to specific elements/actions for a given condition.</a:t>
            </a:r>
            <a:endParaRPr sz="8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1" name="Google Shape;221;g3a3fe304cd4_0_2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603" y="942800"/>
            <a:ext cx="8868251" cy="2990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a3fe304cd4_0_257"/>
          <p:cNvSpPr txBox="1"/>
          <p:nvPr/>
        </p:nvSpPr>
        <p:spPr>
          <a:xfrm>
            <a:off x="555400" y="278115"/>
            <a:ext cx="7928700" cy="466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Implicit Wait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driver.manage().timeouts().implicitlyWait(Duration.ofSeconds(5));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1"/>
                </a:solidFill>
              </a:rPr>
              <a:t>Explicit Wait - WebDriverWait (default polling of 500ms)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WebDriverWait wait = new WebDriverWait(driver, Duration.ofSeconds(5));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wait.until(ExpectedConditions.visibilityOfElementLocated(targetLocator));</a:t>
            </a:r>
            <a:endParaRPr sz="17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800">
                <a:solidFill>
                  <a:schemeClr val="dk1"/>
                </a:solidFill>
              </a:rPr>
              <a:t>Explicit Wait - FluentWait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FluentWait&lt;AppiumDriver&gt; wait = new FluentWait&lt;&gt;(driver)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              .withTimeout(Duration.ofSeconds(20))          // max wait time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2"/>
                </a:solidFill>
              </a:rPr>
              <a:t>                .pollingEvery(Duration.ofSeconds(1))           // check every X seconds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                .ignoring(NoSuchElementException.class);  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600">
                <a:solidFill>
                  <a:schemeClr val="dk2"/>
                </a:solidFill>
              </a:rPr>
              <a:t>wait.until(ExpectedConditions.visibilityOfElementLocated(targetLocator));</a:t>
            </a:r>
            <a:endParaRPr sz="16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700">
                <a:solidFill>
                  <a:schemeClr val="dk1"/>
                </a:solidFill>
              </a:rPr>
              <a:t>Note:</a:t>
            </a:r>
            <a:endParaRPr b="1" sz="17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700">
                <a:solidFill>
                  <a:schemeClr val="dk2"/>
                </a:solidFill>
              </a:rPr>
              <a:t>If element not found within specified timeout then TimeoutException is thrown.</a:t>
            </a:r>
            <a:endParaRPr sz="17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g3ad8e2f9fd3_0_0"/>
          <p:cNvSpPr txBox="1"/>
          <p:nvPr/>
        </p:nvSpPr>
        <p:spPr>
          <a:xfrm>
            <a:off x="2682500" y="1980125"/>
            <a:ext cx="45882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iOS Mobile Gestures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g3ad8e2f9fd3_0_4"/>
          <p:cNvSpPr txBox="1"/>
          <p:nvPr/>
        </p:nvSpPr>
        <p:spPr>
          <a:xfrm>
            <a:off x="379775" y="146990"/>
            <a:ext cx="7928700" cy="371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There are different gestures that can be performed in mobile apps:</a:t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Click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Double Click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Long Click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Drag and Drop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Scroll Gesture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Picker Wheel</a:t>
            </a:r>
            <a:endParaRPr sz="1450">
              <a:solidFill>
                <a:schemeClr val="dk1"/>
              </a:solidFill>
            </a:endParaRPr>
          </a:p>
          <a:p>
            <a:pPr indent="-32067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50"/>
              <a:buChar char="●"/>
            </a:pPr>
            <a:r>
              <a:rPr lang="en" sz="1450">
                <a:solidFill>
                  <a:schemeClr val="dk1"/>
                </a:solidFill>
              </a:rPr>
              <a:t>and many more…</a:t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450">
                <a:solidFill>
                  <a:schemeClr val="dk1"/>
                </a:solidFill>
              </a:rPr>
              <a:t>Reference: </a:t>
            </a:r>
            <a:endParaRPr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u="sng">
                <a:solidFill>
                  <a:schemeClr val="hlink"/>
                </a:solidFill>
                <a:hlinkClick r:id="rId3"/>
              </a:rPr>
              <a:t>https://appium.readthedocs.io/en/latest/en/writing-running-appium/ios/ios-xctest-mobile-gestures/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g3ad8e2f9fd3_0_8"/>
          <p:cNvSpPr txBox="1"/>
          <p:nvPr/>
        </p:nvSpPr>
        <p:spPr>
          <a:xfrm>
            <a:off x="920375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iOS Mobile Gestures: Tap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ad8e2f9fd3_0_12"/>
          <p:cNvSpPr txBox="1"/>
          <p:nvPr/>
        </p:nvSpPr>
        <p:spPr>
          <a:xfrm>
            <a:off x="379775" y="131115"/>
            <a:ext cx="7928700" cy="514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350">
                <a:solidFill>
                  <a:schemeClr val="dk1"/>
                </a:solidFill>
              </a:rPr>
              <a:t>// (#1) Click using center co-ords of an element (Coordinate-only click)</a:t>
            </a:r>
            <a:endParaRPr b="1" sz="13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WebElement element = driver.findElement(locator);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int startX = element.getLocation().getX();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int startY = element.getLocation().getY();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int centerX = startX + element.getSize().getWidth()/2;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int centerY = startY + element.getSize().getHeight()/2;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HashMap&lt;String, Object&gt; params = new HashMap&lt;&gt;();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params.put("x", centerX);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params.put("y", centerY);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driver.executeScript("</a:t>
            </a:r>
            <a:r>
              <a:rPr b="1" lang="en" sz="1150">
                <a:solidFill>
                  <a:schemeClr val="dk1"/>
                </a:solidFill>
              </a:rPr>
              <a:t>mobile: tap</a:t>
            </a:r>
            <a:r>
              <a:rPr lang="en" sz="1150">
                <a:solidFill>
                  <a:schemeClr val="dk1"/>
                </a:solidFill>
              </a:rPr>
              <a:t>", params);</a:t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350">
                <a:solidFill>
                  <a:schemeClr val="dk1"/>
                </a:solidFill>
              </a:rPr>
              <a:t>// (#2) Click using id of an element + relative coordinates </a:t>
            </a:r>
            <a:endParaRPr b="1" sz="13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WebElement element = driver.findElement(locator);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HashMap&lt;String, Object&gt; params = new HashMap&lt;String, Object&gt;();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params.put("elementId", ((RemoteWebElement)element).getId());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chemeClr val="dk1"/>
                </a:solidFill>
              </a:rPr>
              <a:t>params.put("x", 50);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params.put("y", 50);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50">
                <a:solidFill>
                  <a:schemeClr val="dk1"/>
                </a:solidFill>
              </a:rPr>
              <a:t>driver.executeScript("</a:t>
            </a:r>
            <a:r>
              <a:rPr b="1" lang="en" sz="1150">
                <a:solidFill>
                  <a:schemeClr val="dk1"/>
                </a:solidFill>
              </a:rPr>
              <a:t>mobile: tap</a:t>
            </a:r>
            <a:r>
              <a:rPr lang="en" sz="1150">
                <a:solidFill>
                  <a:schemeClr val="dk1"/>
                </a:solidFill>
              </a:rPr>
              <a:t>", params);</a:t>
            </a:r>
            <a:endParaRPr sz="11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</p:txBody>
      </p:sp>
      <p:sp>
        <p:nvSpPr>
          <p:cNvPr id="247" name="Google Shape;247;g3ad8e2f9fd3_0_12"/>
          <p:cNvSpPr/>
          <p:nvPr/>
        </p:nvSpPr>
        <p:spPr>
          <a:xfrm>
            <a:off x="6003500" y="1082775"/>
            <a:ext cx="1789500" cy="823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Button</a:t>
            </a:r>
            <a:endParaRPr b="1"/>
          </a:p>
        </p:txBody>
      </p:sp>
      <p:sp>
        <p:nvSpPr>
          <p:cNvPr id="248" name="Google Shape;248;g3ad8e2f9fd3_0_12"/>
          <p:cNvSpPr/>
          <p:nvPr/>
        </p:nvSpPr>
        <p:spPr>
          <a:xfrm>
            <a:off x="5893700" y="981513"/>
            <a:ext cx="225000" cy="208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49" name="Google Shape;249;g3ad8e2f9fd3_0_12"/>
          <p:cNvCxnSpPr>
            <a:endCxn id="248" idx="7"/>
          </p:cNvCxnSpPr>
          <p:nvPr/>
        </p:nvCxnSpPr>
        <p:spPr>
          <a:xfrm flipH="1">
            <a:off x="6085750" y="328347"/>
            <a:ext cx="697200" cy="6837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0" name="Google Shape;250;g3ad8e2f9fd3_0_12"/>
          <p:cNvSpPr txBox="1"/>
          <p:nvPr/>
        </p:nvSpPr>
        <p:spPr>
          <a:xfrm>
            <a:off x="6717094" y="15488"/>
            <a:ext cx="15915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startX, startY</a:t>
            </a:r>
            <a:endParaRPr sz="1800">
              <a:solidFill>
                <a:schemeClr val="dk2"/>
              </a:solidFill>
            </a:endParaRPr>
          </a:p>
        </p:txBody>
      </p:sp>
      <p:cxnSp>
        <p:nvCxnSpPr>
          <p:cNvPr id="251" name="Google Shape;251;g3ad8e2f9fd3_0_12"/>
          <p:cNvCxnSpPr/>
          <p:nvPr/>
        </p:nvCxnSpPr>
        <p:spPr>
          <a:xfrm>
            <a:off x="6266975" y="2092796"/>
            <a:ext cx="1114500" cy="1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2" name="Google Shape;252;g3ad8e2f9fd3_0_12"/>
          <p:cNvSpPr txBox="1"/>
          <p:nvPr/>
        </p:nvSpPr>
        <p:spPr>
          <a:xfrm>
            <a:off x="6486561" y="2020858"/>
            <a:ext cx="8178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width</a:t>
            </a:r>
            <a:endParaRPr>
              <a:solidFill>
                <a:schemeClr val="dk2"/>
              </a:solidFill>
            </a:endParaRPr>
          </a:p>
        </p:txBody>
      </p:sp>
      <p:cxnSp>
        <p:nvCxnSpPr>
          <p:cNvPr id="253" name="Google Shape;253;g3ad8e2f9fd3_0_12"/>
          <p:cNvCxnSpPr/>
          <p:nvPr/>
        </p:nvCxnSpPr>
        <p:spPr>
          <a:xfrm rot="10800000">
            <a:off x="8001600" y="1099300"/>
            <a:ext cx="0" cy="795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4" name="Google Shape;254;g3ad8e2f9fd3_0_12"/>
          <p:cNvSpPr txBox="1"/>
          <p:nvPr/>
        </p:nvSpPr>
        <p:spPr>
          <a:xfrm>
            <a:off x="8077161" y="1385071"/>
            <a:ext cx="8178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height</a:t>
            </a:r>
            <a:endParaRPr>
              <a:solidFill>
                <a:schemeClr val="dk2"/>
              </a:solidFill>
            </a:endParaRPr>
          </a:p>
        </p:txBody>
      </p:sp>
      <p:sp>
        <p:nvSpPr>
          <p:cNvPr id="255" name="Google Shape;255;g3ad8e2f9fd3_0_12"/>
          <p:cNvSpPr/>
          <p:nvPr/>
        </p:nvSpPr>
        <p:spPr>
          <a:xfrm>
            <a:off x="6885975" y="1382338"/>
            <a:ext cx="225000" cy="208500"/>
          </a:xfrm>
          <a:prstGeom prst="ellipse">
            <a:avLst/>
          </a:prstGeom>
          <a:solidFill>
            <a:srgbClr val="FF000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56" name="Google Shape;256;g3ad8e2f9fd3_0_12"/>
          <p:cNvCxnSpPr>
            <a:endCxn id="255" idx="5"/>
          </p:cNvCxnSpPr>
          <p:nvPr/>
        </p:nvCxnSpPr>
        <p:spPr>
          <a:xfrm rot="10800000">
            <a:off x="7078025" y="1560303"/>
            <a:ext cx="797400" cy="88680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57" name="Google Shape;257;g3ad8e2f9fd3_0_12"/>
          <p:cNvSpPr txBox="1"/>
          <p:nvPr/>
        </p:nvSpPr>
        <p:spPr>
          <a:xfrm>
            <a:off x="6935377" y="2347159"/>
            <a:ext cx="2142000" cy="2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dk2"/>
                </a:solidFill>
              </a:rPr>
              <a:t>centerX, centerY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58" name="Google Shape;258;g3ad8e2f9fd3_0_12"/>
          <p:cNvSpPr/>
          <p:nvPr/>
        </p:nvSpPr>
        <p:spPr>
          <a:xfrm>
            <a:off x="6006768" y="3693128"/>
            <a:ext cx="1580700" cy="727500"/>
          </a:xfrm>
          <a:prstGeom prst="rect">
            <a:avLst/>
          </a:prstGeom>
          <a:solidFill>
            <a:schemeClr val="lt2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50" lIns="80750" spcFirstLastPara="1" rIns="80750" wrap="square" tIns="8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36"/>
              <a:t>Button</a:t>
            </a:r>
            <a:endParaRPr b="1" sz="1236"/>
          </a:p>
        </p:txBody>
      </p:sp>
      <p:sp>
        <p:nvSpPr>
          <p:cNvPr id="259" name="Google Shape;259;g3ad8e2f9fd3_0_12"/>
          <p:cNvSpPr/>
          <p:nvPr/>
        </p:nvSpPr>
        <p:spPr>
          <a:xfrm>
            <a:off x="5909786" y="3603689"/>
            <a:ext cx="198600" cy="184200"/>
          </a:xfrm>
          <a:prstGeom prst="ellipse">
            <a:avLst/>
          </a:prstGeom>
          <a:solidFill>
            <a:srgbClr val="FF0000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50" lIns="80750" spcFirstLastPara="1" rIns="80750" wrap="square" tIns="8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6"/>
          </a:p>
        </p:txBody>
      </p:sp>
      <p:cxnSp>
        <p:nvCxnSpPr>
          <p:cNvPr id="260" name="Google Shape;260;g3ad8e2f9fd3_0_12"/>
          <p:cNvCxnSpPr>
            <a:endCxn id="259" idx="7"/>
          </p:cNvCxnSpPr>
          <p:nvPr/>
        </p:nvCxnSpPr>
        <p:spPr>
          <a:xfrm flipH="1">
            <a:off x="6079302" y="3325864"/>
            <a:ext cx="564300" cy="304800"/>
          </a:xfrm>
          <a:prstGeom prst="straightConnector1">
            <a:avLst/>
          </a:prstGeom>
          <a:noFill/>
          <a:ln cap="flat" cmpd="sng" w="336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1" name="Google Shape;261;g3ad8e2f9fd3_0_12"/>
          <p:cNvSpPr txBox="1"/>
          <p:nvPr/>
        </p:nvSpPr>
        <p:spPr>
          <a:xfrm>
            <a:off x="6637053" y="3060011"/>
            <a:ext cx="14058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80750" lIns="80750" spcFirstLastPara="1" rIns="80750" wrap="square" tIns="8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9">
                <a:solidFill>
                  <a:schemeClr val="dk2"/>
                </a:solidFill>
              </a:rPr>
              <a:t>100, 120</a:t>
            </a:r>
            <a:endParaRPr sz="1389">
              <a:solidFill>
                <a:schemeClr val="dk2"/>
              </a:solidFill>
            </a:endParaRPr>
          </a:p>
        </p:txBody>
      </p:sp>
      <p:cxnSp>
        <p:nvCxnSpPr>
          <p:cNvPr id="262" name="Google Shape;262;g3ad8e2f9fd3_0_12"/>
          <p:cNvCxnSpPr/>
          <p:nvPr/>
        </p:nvCxnSpPr>
        <p:spPr>
          <a:xfrm>
            <a:off x="6239483" y="4585228"/>
            <a:ext cx="984300" cy="99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3" name="Google Shape;263;g3ad8e2f9fd3_0_12"/>
          <p:cNvSpPr txBox="1"/>
          <p:nvPr/>
        </p:nvSpPr>
        <p:spPr>
          <a:xfrm>
            <a:off x="6433434" y="4521689"/>
            <a:ext cx="722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80750" lIns="80750" spcFirstLastPara="1" rIns="80750" wrap="square" tIns="8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6">
                <a:solidFill>
                  <a:schemeClr val="dk2"/>
                </a:solidFill>
              </a:rPr>
              <a:t>width</a:t>
            </a:r>
            <a:endParaRPr sz="1236">
              <a:solidFill>
                <a:schemeClr val="dk2"/>
              </a:solidFill>
            </a:endParaRPr>
          </a:p>
        </p:txBody>
      </p:sp>
      <p:cxnSp>
        <p:nvCxnSpPr>
          <p:cNvPr id="264" name="Google Shape;264;g3ad8e2f9fd3_0_12"/>
          <p:cNvCxnSpPr/>
          <p:nvPr/>
        </p:nvCxnSpPr>
        <p:spPr>
          <a:xfrm rot="10800000">
            <a:off x="7771600" y="3707802"/>
            <a:ext cx="0" cy="702900"/>
          </a:xfrm>
          <a:prstGeom prst="straightConnector1">
            <a:avLst/>
          </a:prstGeom>
          <a:noFill/>
          <a:ln cap="flat" cmpd="sng" w="84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5" name="Google Shape;265;g3ad8e2f9fd3_0_12"/>
          <p:cNvSpPr txBox="1"/>
          <p:nvPr/>
        </p:nvSpPr>
        <p:spPr>
          <a:xfrm>
            <a:off x="7838340" y="3960131"/>
            <a:ext cx="7224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80750" lIns="80750" spcFirstLastPara="1" rIns="80750" wrap="square" tIns="8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36">
                <a:solidFill>
                  <a:schemeClr val="dk2"/>
                </a:solidFill>
              </a:rPr>
              <a:t>height</a:t>
            </a:r>
            <a:endParaRPr sz="1236">
              <a:solidFill>
                <a:schemeClr val="dk2"/>
              </a:solidFill>
            </a:endParaRPr>
          </a:p>
        </p:txBody>
      </p:sp>
      <p:sp>
        <p:nvSpPr>
          <p:cNvPr id="266" name="Google Shape;266;g3ad8e2f9fd3_0_12"/>
          <p:cNvSpPr/>
          <p:nvPr/>
        </p:nvSpPr>
        <p:spPr>
          <a:xfrm>
            <a:off x="6309969" y="4076779"/>
            <a:ext cx="198600" cy="184200"/>
          </a:xfrm>
          <a:prstGeom prst="ellipse">
            <a:avLst/>
          </a:prstGeom>
          <a:solidFill>
            <a:srgbClr val="FF0000"/>
          </a:solidFill>
          <a:ln cap="flat" cmpd="sng" w="84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80750" lIns="80750" spcFirstLastPara="1" rIns="80750" wrap="square" tIns="807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36"/>
          </a:p>
        </p:txBody>
      </p:sp>
      <p:cxnSp>
        <p:nvCxnSpPr>
          <p:cNvPr id="267" name="Google Shape;267;g3ad8e2f9fd3_0_12"/>
          <p:cNvCxnSpPr>
            <a:endCxn id="266" idx="5"/>
          </p:cNvCxnSpPr>
          <p:nvPr/>
        </p:nvCxnSpPr>
        <p:spPr>
          <a:xfrm rot="10800000">
            <a:off x="6479484" y="4234004"/>
            <a:ext cx="1251600" cy="433200"/>
          </a:xfrm>
          <a:prstGeom prst="straightConnector1">
            <a:avLst/>
          </a:prstGeom>
          <a:noFill/>
          <a:ln cap="flat" cmpd="sng" w="33650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268" name="Google Shape;268;g3ad8e2f9fd3_0_12"/>
          <p:cNvSpPr txBox="1"/>
          <p:nvPr/>
        </p:nvSpPr>
        <p:spPr>
          <a:xfrm>
            <a:off x="7472796" y="4627326"/>
            <a:ext cx="1169100" cy="184200"/>
          </a:xfrm>
          <a:prstGeom prst="rect">
            <a:avLst/>
          </a:prstGeom>
          <a:noFill/>
          <a:ln>
            <a:noFill/>
          </a:ln>
        </p:spPr>
        <p:txBody>
          <a:bodyPr anchorCtr="0" anchor="t" bIns="80750" lIns="80750" spcFirstLastPara="1" rIns="80750" wrap="square" tIns="8075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389">
                <a:solidFill>
                  <a:schemeClr val="dk2"/>
                </a:solidFill>
              </a:rPr>
              <a:t>150, 170</a:t>
            </a:r>
            <a:endParaRPr sz="1389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d8e2f9fd3_0_38"/>
          <p:cNvSpPr txBox="1"/>
          <p:nvPr/>
        </p:nvSpPr>
        <p:spPr>
          <a:xfrm>
            <a:off x="920375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iOS Mobile Gestures: Scroll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ad8e2f9fd3_0_42"/>
          <p:cNvSpPr txBox="1"/>
          <p:nvPr/>
        </p:nvSpPr>
        <p:spPr>
          <a:xfrm>
            <a:off x="275475" y="41693"/>
            <a:ext cx="8489100" cy="507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//Scroll using Predicate String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params.put("element", ((RemoteWebElement)driver.findElement(scrollableCntrLocator)).getId());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params.put("predicateString", "name == \"Learning Microsoft Power BI\"");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driver.executeScript(</a:t>
            </a:r>
            <a:r>
              <a:rPr b="1" lang="en" sz="1250">
                <a:solidFill>
                  <a:schemeClr val="dk1"/>
                </a:solidFill>
              </a:rPr>
              <a:t>"mobile: scroll"</a:t>
            </a:r>
            <a:r>
              <a:rPr lang="en" sz="1250">
                <a:solidFill>
                  <a:schemeClr val="dk1"/>
                </a:solidFill>
              </a:rPr>
              <a:t>, params);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//Scroll using Accessibility Id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params.put("element", ((RemoteWebElement)driver.findElement(scrollableCntrLocator)).getId());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params.put("name", "Learning Microsoft Power BI");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driver.executeScript(</a:t>
            </a:r>
            <a:r>
              <a:rPr b="1" lang="en" sz="1250">
                <a:solidFill>
                  <a:schemeClr val="dk1"/>
                </a:solidFill>
              </a:rPr>
              <a:t>"mobile: scroll"</a:t>
            </a:r>
            <a:r>
              <a:rPr lang="en" sz="1250">
                <a:solidFill>
                  <a:schemeClr val="dk1"/>
                </a:solidFill>
              </a:rPr>
              <a:t>, params);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50" u="sng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 u="sng">
                <a:solidFill>
                  <a:schemeClr val="dk1"/>
                </a:solidFill>
              </a:rPr>
              <a:t>Note: </a:t>
            </a:r>
            <a:r>
              <a:rPr lang="en" sz="1150">
                <a:solidFill>
                  <a:schemeClr val="dk1"/>
                </a:solidFill>
              </a:rPr>
              <a:t>The different tags that can be used for a scrollable container element: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XCUIElementTypeTable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XCUIElementTypeCollectionView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XCUIElementTypeScrollView</a:t>
            </a:r>
            <a:endParaRPr sz="10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adecd9d7e1_0_0"/>
          <p:cNvSpPr txBox="1"/>
          <p:nvPr/>
        </p:nvSpPr>
        <p:spPr>
          <a:xfrm>
            <a:off x="138253" y="196178"/>
            <a:ext cx="8854200" cy="398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//Scroll page by page till target element is displayed 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</a:rPr>
              <a:t>(not reliable as target locator may get scrolled out of screen)</a:t>
            </a:r>
            <a:endParaRPr b="1"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params.put("elementId", ((RemoteWebElement)driver.findElement(scrollableCntrLocator)).getId());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params.put("direction", "down"); // “up”, “left”, “right”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while (!isElementDisplayed(driver, targetLocator)) {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       driver.executeScript("</a:t>
            </a:r>
            <a:r>
              <a:rPr b="1" lang="en" sz="1250">
                <a:solidFill>
                  <a:schemeClr val="dk1"/>
                </a:solidFill>
              </a:rPr>
              <a:t>mobile: scroll</a:t>
            </a:r>
            <a:r>
              <a:rPr lang="en" sz="1250">
                <a:solidFill>
                  <a:schemeClr val="dk1"/>
                </a:solidFill>
              </a:rPr>
              <a:t>", params);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}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 u="sng">
                <a:solidFill>
                  <a:schemeClr val="dk1"/>
                </a:solidFill>
              </a:rPr>
              <a:t>Note:</a:t>
            </a:r>
            <a:endParaRPr b="1" sz="1250" u="sng">
              <a:solidFill>
                <a:schemeClr val="dk1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</a:rPr>
              <a:t>To be used only when accessibility id or predicate string not possible as locator.</a:t>
            </a:r>
            <a:endParaRPr sz="1250">
              <a:solidFill>
                <a:schemeClr val="dk1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 u="sng">
                <a:solidFill>
                  <a:schemeClr val="dk1"/>
                </a:solidFill>
              </a:rPr>
              <a:t>To be used only when target element is guaranteed to be present, since no way to validate end of page.</a:t>
            </a:r>
            <a:endParaRPr sz="1250" u="sng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adecd9d7e1_0_4"/>
          <p:cNvSpPr txBox="1"/>
          <p:nvPr/>
        </p:nvSpPr>
        <p:spPr>
          <a:xfrm>
            <a:off x="920375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iOS Mobile Gestures: Swipe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g3adecd9d7e1_0_8"/>
          <p:cNvSpPr txBox="1"/>
          <p:nvPr/>
        </p:nvSpPr>
        <p:spPr>
          <a:xfrm>
            <a:off x="275475" y="41693"/>
            <a:ext cx="8489100" cy="371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//Swipe using scrollable container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params.put("elementId", ((RemoteWebElement)driver.findElement(scrollableCntrLocator)).getId());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params.put("predicateString", "name == \"Learning Microsoft Power BI\"");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driver.executeScript(</a:t>
            </a:r>
            <a:r>
              <a:rPr b="1" lang="en" sz="1250">
                <a:solidFill>
                  <a:schemeClr val="dk1"/>
                </a:solidFill>
              </a:rPr>
              <a:t>"mobile: scroll"</a:t>
            </a:r>
            <a:r>
              <a:rPr lang="en" sz="1250">
                <a:solidFill>
                  <a:schemeClr val="dk1"/>
                </a:solidFill>
              </a:rPr>
              <a:t>, params);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params.put("element", ((RemoteWebElement)driver.findElement(scrollableCntrLocator)).getId());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params.put("direction", "down"); //”up”, “left”, “right”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driver.executeScript(</a:t>
            </a:r>
            <a:r>
              <a:rPr b="1" lang="en" sz="1250">
                <a:solidFill>
                  <a:schemeClr val="dk1"/>
                </a:solidFill>
              </a:rPr>
              <a:t>"mobile: swipe"</a:t>
            </a:r>
            <a:r>
              <a:rPr lang="en" sz="1250">
                <a:solidFill>
                  <a:schemeClr val="dk1"/>
                </a:solidFill>
              </a:rPr>
              <a:t>, params);</a:t>
            </a:r>
            <a:endParaRPr sz="90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 u="sng">
                <a:solidFill>
                  <a:schemeClr val="dk1"/>
                </a:solidFill>
              </a:rPr>
              <a:t>Note: 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  <a:highlight>
                  <a:srgbClr val="FFFF00"/>
                </a:highlight>
              </a:rPr>
              <a:t>The direction of swipe is the opposite of scroll. </a:t>
            </a:r>
            <a:endParaRPr sz="115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-301625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E.g: For scrolling down a page, we provide direction="down". However, for swiping down, we provide direction="up".</a:t>
            </a:r>
            <a:endParaRPr sz="11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ae9a533837_0_81"/>
          <p:cNvSpPr txBox="1"/>
          <p:nvPr/>
        </p:nvSpPr>
        <p:spPr>
          <a:xfrm>
            <a:off x="111125" y="1980125"/>
            <a:ext cx="884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iOS Mobile Gestures: Drag From To For Duration</a:t>
            </a:r>
            <a:endParaRPr b="1" sz="2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e9a533837_0_85"/>
          <p:cNvSpPr txBox="1"/>
          <p:nvPr/>
        </p:nvSpPr>
        <p:spPr>
          <a:xfrm>
            <a:off x="275475" y="41693"/>
            <a:ext cx="8489100" cy="353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//Drag element (using centerX, centerY) to destination (x,y)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//Get centerX and centerY of source element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WebElement srcElement = driver.findElement(srcLocator);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int srcX = srcElement.getLocation().getX() + srcElement.getSize().getWidth()/2;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int srcY = srcElement.getLocation().getY() + srcElement.getSize().getHeight()/2;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    	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params.put("fromX", srcX);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params.put("fromY", srcY);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params.put("toX", destX);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params.put("toY", destY);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params.put("duration", 4.0); // time in secs taken for the drag to happen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driver.executeScript(</a:t>
            </a:r>
            <a:r>
              <a:rPr b="1" lang="en" sz="1250">
                <a:solidFill>
                  <a:schemeClr val="dk1"/>
                </a:solidFill>
              </a:rPr>
              <a:t>"mobile: dragFromToForDuration"</a:t>
            </a:r>
            <a:r>
              <a:rPr lang="en" sz="1250">
                <a:solidFill>
                  <a:schemeClr val="dk1"/>
                </a:solidFill>
              </a:rPr>
              <a:t>, params);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3ae9a533837_0_89"/>
          <p:cNvSpPr txBox="1"/>
          <p:nvPr/>
        </p:nvSpPr>
        <p:spPr>
          <a:xfrm>
            <a:off x="781229" y="1980125"/>
            <a:ext cx="77589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iOS Mobile Gestures: Select Picker Wheel Value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g3ae9a533837_0_93"/>
          <p:cNvSpPr txBox="1"/>
          <p:nvPr/>
        </p:nvSpPr>
        <p:spPr>
          <a:xfrm>
            <a:off x="275475" y="41693"/>
            <a:ext cx="8489100" cy="3698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//Picker Wheel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WebElement wheel = driver.findElement(locator);</a:t>
            </a:r>
            <a:endParaRPr sz="12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HashMap&lt;&gt;();</a:t>
            </a:r>
            <a:endParaRPr sz="12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params.put("elementId", ((RemoteWebElement)wheel).getId());</a:t>
            </a:r>
            <a:endParaRPr sz="12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params.put("order",”next”); // possible values -&gt; </a:t>
            </a:r>
            <a:r>
              <a:rPr i="1" lang="en" sz="1250">
                <a:solidFill>
                  <a:schemeClr val="dk1"/>
                </a:solidFill>
              </a:rPr>
              <a:t>next</a:t>
            </a:r>
            <a:r>
              <a:rPr lang="en" sz="1250">
                <a:solidFill>
                  <a:schemeClr val="dk1"/>
                </a:solidFill>
              </a:rPr>
              <a:t>, </a:t>
            </a:r>
            <a:r>
              <a:rPr i="1" lang="en" sz="1250">
                <a:solidFill>
                  <a:schemeClr val="dk1"/>
                </a:solidFill>
              </a:rPr>
              <a:t>previous</a:t>
            </a:r>
            <a:endParaRPr i="1" sz="12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params.put("offset", 0.1);    // extent of scroll. Possible values 0.01 - 0.5. Only 2 digits after decimal.</a:t>
            </a:r>
            <a:endParaRPr sz="12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while(!wheel.getAttribute("value").equals(value)) {</a:t>
            </a:r>
            <a:endParaRPr sz="12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      driver.executeScript("mobile: selectPickerWheelValue", params);</a:t>
            </a:r>
            <a:endParaRPr sz="1250">
              <a:solidFill>
                <a:schemeClr val="dk1"/>
              </a:solidFill>
            </a:endParaRPr>
          </a:p>
          <a:p>
            <a:pPr indent="0" lvl="0" marL="25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}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>
                <a:solidFill>
                  <a:schemeClr val="dk1"/>
                </a:solidFill>
              </a:rPr>
              <a:t>Note: </a:t>
            </a:r>
            <a:r>
              <a:rPr lang="en" sz="1150">
                <a:solidFill>
                  <a:schemeClr val="dk1"/>
                </a:solidFill>
              </a:rPr>
              <a:t>For offset value -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Usually the optimal value is located in range [0.15, 0.3]. </a:t>
            </a:r>
            <a:endParaRPr sz="1150">
              <a:solidFill>
                <a:schemeClr val="dk1"/>
              </a:solidFill>
            </a:endParaRPr>
          </a:p>
          <a:p>
            <a:pPr indent="-3016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0"/>
              <a:buChar char="●"/>
            </a:pPr>
            <a:r>
              <a:rPr lang="en" sz="1150">
                <a:solidFill>
                  <a:schemeClr val="dk1"/>
                </a:solidFill>
              </a:rPr>
              <a:t>0.2 by default.</a:t>
            </a:r>
            <a:endParaRPr sz="11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g3ae9a533837_0_97"/>
          <p:cNvSpPr txBox="1"/>
          <p:nvPr/>
        </p:nvSpPr>
        <p:spPr>
          <a:xfrm>
            <a:off x="0" y="0"/>
            <a:ext cx="9069300" cy="511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How Appium simulates Picker Wheel movement gesture?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A picker wheel is a vertical cylinder. 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Appium </a:t>
            </a:r>
            <a:r>
              <a:rPr lang="en" sz="1250">
                <a:solidFill>
                  <a:schemeClr val="dk1"/>
                </a:solidFill>
                <a:highlight>
                  <a:srgbClr val="FFFF00"/>
                </a:highlight>
              </a:rPr>
              <a:t>simulates a tap not at the center, but slightly above or below the center to trigger movement to the next/previous value</a:t>
            </a:r>
            <a:r>
              <a:rPr lang="en" sz="1250">
                <a:solidFill>
                  <a:schemeClr val="dk1"/>
                </a:solidFill>
              </a:rPr>
              <a:t>.</a:t>
            </a:r>
            <a:endParaRPr sz="125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50">
                <a:solidFill>
                  <a:schemeClr val="dk1"/>
                </a:solidFill>
              </a:rPr>
              <a:t>Offset is a proportional distance from the center.</a:t>
            </a:r>
            <a:endParaRPr sz="1250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250">
                <a:solidFill>
                  <a:schemeClr val="dk1"/>
                </a:solidFill>
              </a:rPr>
              <a:t>It is multiplied by the picker wheel’s height to calculate the actual tap point.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So, tapY = centerY ± (pickerHeight * offset)</a:t>
            </a:r>
            <a:endParaRPr sz="1250">
              <a:solidFill>
                <a:schemeClr val="dk1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</a:rPr>
              <a:t>Too small (&lt;0.1) → tap happens too close to the center → wheel might not move.</a:t>
            </a:r>
            <a:endParaRPr sz="1250">
              <a:solidFill>
                <a:schemeClr val="dk1"/>
              </a:solidFill>
            </a:endParaRPr>
          </a:p>
          <a:p>
            <a:pPr indent="-30797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50"/>
              <a:buChar char="●"/>
            </a:pPr>
            <a:r>
              <a:rPr lang="en" sz="1250">
                <a:solidFill>
                  <a:schemeClr val="dk1"/>
                </a:solidFill>
              </a:rPr>
              <a:t>Too large (&gt;0.3) → tap happens near the edges → wheel might jump multiple values.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250">
                <a:solidFill>
                  <a:schemeClr val="dk1"/>
                </a:solidFill>
              </a:rPr>
              <a:t>E.g: </a:t>
            </a:r>
            <a:r>
              <a:rPr lang="en" sz="1250">
                <a:solidFill>
                  <a:schemeClr val="dk1"/>
                </a:solidFill>
              </a:rPr>
              <a:t>Assume the picker wheel height is 200 px.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Your offset = 0.15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Appium computes:</a:t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distance = 200 * 0.15 = 30 px from center</a:t>
            </a:r>
            <a:endParaRPr sz="1100"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g3ae9a533837_0_101"/>
          <p:cNvSpPr txBox="1"/>
          <p:nvPr/>
        </p:nvSpPr>
        <p:spPr>
          <a:xfrm>
            <a:off x="781229" y="1980125"/>
            <a:ext cx="77589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iOS Mobile Gestures: Touch &amp; Hold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ae9a533837_0_105"/>
          <p:cNvSpPr txBox="1"/>
          <p:nvPr/>
        </p:nvSpPr>
        <p:spPr>
          <a:xfrm>
            <a:off x="275475" y="41693"/>
            <a:ext cx="8489100" cy="426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//Tap and Hold element (using element id)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HashMap&lt;String, Object&gt;();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params.put("elementId", ((RemoteWebElement) element).getId());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params.put("duration", 2.0);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driver.executeScript(</a:t>
            </a:r>
            <a:r>
              <a:rPr b="1" lang="en" sz="1250">
                <a:solidFill>
                  <a:schemeClr val="dk1"/>
                </a:solidFill>
              </a:rPr>
              <a:t>"mobile: touchAndHold"</a:t>
            </a:r>
            <a:r>
              <a:rPr lang="en" sz="1250">
                <a:solidFill>
                  <a:schemeClr val="dk1"/>
                </a:solidFill>
              </a:rPr>
              <a:t>, params);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</a:rPr>
              <a:t>//Tap and Hold element (using x,y co-ordinates)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HashMap&lt;String, Object&gt;();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params.put("x", centerX);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params.put("y", centerY);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params.put("duration", 2.0);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driver.executeScript(</a:t>
            </a:r>
            <a:r>
              <a:rPr b="1" lang="en" sz="1250">
                <a:solidFill>
                  <a:schemeClr val="dk1"/>
                </a:solidFill>
              </a:rPr>
              <a:t>"mobile: touchAndHold</a:t>
            </a:r>
            <a:r>
              <a:rPr lang="en" sz="1250">
                <a:solidFill>
                  <a:schemeClr val="dk1"/>
                </a:solidFill>
              </a:rPr>
              <a:t>", params);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g3ae9a533837_0_109"/>
          <p:cNvSpPr txBox="1"/>
          <p:nvPr/>
        </p:nvSpPr>
        <p:spPr>
          <a:xfrm>
            <a:off x="781229" y="1980125"/>
            <a:ext cx="77589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iOS Mobile Gestures: Double Tap Gesture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ae9a533837_0_113"/>
          <p:cNvSpPr txBox="1"/>
          <p:nvPr/>
        </p:nvSpPr>
        <p:spPr>
          <a:xfrm>
            <a:off x="275475" y="41693"/>
            <a:ext cx="8489100" cy="38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450">
                <a:solidFill>
                  <a:schemeClr val="dk1"/>
                </a:solidFill>
              </a:rPr>
              <a:t>//Double Tap element (using element id)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HashMap&lt;String, Object&gt;();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params.put("elementId", ((RemoteWebElement) element).getId());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driver.executeScript(</a:t>
            </a:r>
            <a:r>
              <a:rPr b="1" lang="en" sz="1250">
                <a:solidFill>
                  <a:schemeClr val="dk1"/>
                </a:solidFill>
              </a:rPr>
              <a:t>"mobile: doubleTap"</a:t>
            </a:r>
            <a:r>
              <a:rPr lang="en" sz="1250">
                <a:solidFill>
                  <a:schemeClr val="dk1"/>
                </a:solidFill>
              </a:rPr>
              <a:t>, params);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450">
                <a:solidFill>
                  <a:schemeClr val="dk1"/>
                </a:solidFill>
              </a:rPr>
              <a:t>//Double Tap element (using x,y co-ordinates)</a:t>
            </a:r>
            <a:endParaRPr b="1" sz="145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4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HashMap&lt;String, Object&gt; params = new HashMap&lt;String, Object&gt;();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params.put("x", centerX);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params.put("y", centerY);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50">
                <a:solidFill>
                  <a:schemeClr val="dk1"/>
                </a:solidFill>
              </a:rPr>
              <a:t>driver.executeScript(</a:t>
            </a:r>
            <a:r>
              <a:rPr b="1" lang="en" sz="1250">
                <a:solidFill>
                  <a:schemeClr val="dk1"/>
                </a:solidFill>
              </a:rPr>
              <a:t>"mobile: doubleTap</a:t>
            </a:r>
            <a:r>
              <a:rPr lang="en" sz="1250">
                <a:solidFill>
                  <a:schemeClr val="dk1"/>
                </a:solidFill>
              </a:rPr>
              <a:t>", params);</a:t>
            </a:r>
            <a:endParaRPr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2" name="Shape 3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Google Shape;343;g3a5fc222138_0_0"/>
          <p:cNvSpPr txBox="1"/>
          <p:nvPr/>
        </p:nvSpPr>
        <p:spPr>
          <a:xfrm>
            <a:off x="1280337" y="1980125"/>
            <a:ext cx="7432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Handling Screen Orientation in iOS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" name="Google Shape;348;g3a5fc222138_0_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57250" y="0"/>
            <a:ext cx="3741525" cy="245992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g3a5fc222138_0_4"/>
          <p:cNvSpPr txBox="1"/>
          <p:nvPr/>
        </p:nvSpPr>
        <p:spPr>
          <a:xfrm>
            <a:off x="0" y="2571750"/>
            <a:ext cx="9144000" cy="240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//Get current screen orientation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ScreenOrientation orientation = ((iOSDriver) driver).getOrientation();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System.out.println("Current Orientation: " + orientation.toString()); //returns PORTRAIT or LANDSCAPE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600"/>
              <a:t>//Rotate screen</a:t>
            </a:r>
            <a:endParaRPr b="1"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((iOSDriver) driver)</a:t>
            </a:r>
            <a:r>
              <a:rPr lang="en" sz="1600"/>
              <a:t>.rotate(ScreenOrientation.LANDSCAPE);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</a:rPr>
              <a:t>((iOSDriver) driver)</a:t>
            </a:r>
            <a:r>
              <a:rPr lang="en" sz="1600"/>
              <a:t>.rotate(ScreenOrientation.PORTRAIT);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g3a5fc222138_0_9"/>
          <p:cNvSpPr txBox="1"/>
          <p:nvPr/>
        </p:nvSpPr>
        <p:spPr>
          <a:xfrm>
            <a:off x="2809752" y="1973250"/>
            <a:ext cx="40452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iOS Hybrid App 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8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Google Shape;359;g3a5fc222138_0_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10800" y="152400"/>
            <a:ext cx="2724561" cy="4838701"/>
          </a:xfrm>
          <a:prstGeom prst="rect">
            <a:avLst/>
          </a:prstGeom>
          <a:noFill/>
          <a:ln>
            <a:noFill/>
          </a:ln>
        </p:spPr>
      </p:pic>
      <p:sp>
        <p:nvSpPr>
          <p:cNvPr id="360" name="Google Shape;360;g3a5fc222138_0_13"/>
          <p:cNvSpPr txBox="1"/>
          <p:nvPr/>
        </p:nvSpPr>
        <p:spPr>
          <a:xfrm>
            <a:off x="28925" y="1149286"/>
            <a:ext cx="5937900" cy="3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//get all the contexts available in the page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Set&lt;String&gt; contexts = ((</a:t>
            </a:r>
            <a:r>
              <a:rPr lang="en" sz="1150"/>
              <a:t>IOS</a:t>
            </a:r>
            <a:r>
              <a:rPr lang="en" sz="1150">
                <a:solidFill>
                  <a:srgbClr val="000000"/>
                </a:solidFill>
              </a:rPr>
              <a:t>Driver) driver).getContextHandles();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//get current context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String context = ((</a:t>
            </a:r>
            <a:r>
              <a:rPr lang="en" sz="1150">
                <a:solidFill>
                  <a:schemeClr val="dk1"/>
                </a:solidFill>
              </a:rPr>
              <a:t>IOSDriver</a:t>
            </a:r>
            <a:r>
              <a:rPr lang="en" sz="1150">
                <a:solidFill>
                  <a:srgbClr val="000000"/>
                </a:solidFill>
              </a:rPr>
              <a:t>) driver).getContext();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//switch context to Web View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for (String context : contexts) {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   if (context.contains("WEBVIEW"))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       ((</a:t>
            </a:r>
            <a:r>
              <a:rPr lang="en" sz="1150">
                <a:solidFill>
                  <a:schemeClr val="dk1"/>
                </a:solidFill>
              </a:rPr>
              <a:t>IOSDriver</a:t>
            </a:r>
            <a:r>
              <a:rPr lang="en" sz="1150">
                <a:solidFill>
                  <a:srgbClr val="000000"/>
                </a:solidFill>
              </a:rPr>
              <a:t>) driver).context(context);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}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//switch context to Native View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for (String context : contexts) {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   if (context.contains("NATIVE"))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       ((</a:t>
            </a:r>
            <a:r>
              <a:rPr lang="en" sz="1150">
                <a:solidFill>
                  <a:schemeClr val="dk1"/>
                </a:solidFill>
              </a:rPr>
              <a:t>IOSDriver</a:t>
            </a:r>
            <a:r>
              <a:rPr lang="en" sz="1150">
                <a:solidFill>
                  <a:srgbClr val="000000"/>
                </a:solidFill>
              </a:rPr>
              <a:t>) driver).context(context);</a:t>
            </a:r>
            <a:endParaRPr sz="115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>
                <a:solidFill>
                  <a:srgbClr val="000000"/>
                </a:solidFill>
              </a:rPr>
              <a:t>}</a:t>
            </a:r>
            <a:endParaRPr sz="1150">
              <a:solidFill>
                <a:srgbClr val="000000"/>
              </a:solidFill>
            </a:endParaRPr>
          </a:p>
        </p:txBody>
      </p:sp>
      <p:sp>
        <p:nvSpPr>
          <p:cNvPr id="361" name="Google Shape;361;g3a5fc222138_0_13"/>
          <p:cNvSpPr txBox="1"/>
          <p:nvPr/>
        </p:nvSpPr>
        <p:spPr>
          <a:xfrm>
            <a:off x="236547" y="152400"/>
            <a:ext cx="4998300" cy="8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rgbClr val="000000"/>
                </a:solidFill>
              </a:rPr>
              <a:t>2 types of contexts available in Hybrid Apps: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Native</a:t>
            </a:r>
            <a:endParaRPr b="1" sz="1500">
              <a:solidFill>
                <a:srgbClr val="000000"/>
              </a:solidFill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Char char="●"/>
            </a:pPr>
            <a:r>
              <a:rPr b="1" lang="en" sz="1500">
                <a:solidFill>
                  <a:srgbClr val="000000"/>
                </a:solidFill>
              </a:rPr>
              <a:t>WebView</a:t>
            </a:r>
            <a:endParaRPr b="1" sz="1500">
              <a:solidFill>
                <a:srgbClr val="000000"/>
              </a:solidFill>
            </a:endParaRPr>
          </a:p>
        </p:txBody>
      </p:sp>
      <p:sp>
        <p:nvSpPr>
          <p:cNvPr id="362" name="Google Shape;362;g3a5fc222138_0_13"/>
          <p:cNvSpPr txBox="1"/>
          <p:nvPr/>
        </p:nvSpPr>
        <p:spPr>
          <a:xfrm>
            <a:off x="0" y="4462750"/>
            <a:ext cx="6174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50"/>
              <a:t>Note:</a:t>
            </a:r>
            <a:r>
              <a:rPr lang="en" sz="1150"/>
              <a:t> For WEBVIEW to be detected in Simulator, go to</a:t>
            </a:r>
            <a:endParaRPr sz="11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50"/>
              <a:t>Settings -&gt; Safari -&gt; Advanced. Enable “Web Inspector” and “Remote Automation”.</a:t>
            </a:r>
            <a:endParaRPr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a5fc222138_0_20"/>
          <p:cNvSpPr txBox="1"/>
          <p:nvPr/>
        </p:nvSpPr>
        <p:spPr>
          <a:xfrm>
            <a:off x="1809699" y="2025775"/>
            <a:ext cx="5578500" cy="72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800">
                <a:solidFill>
                  <a:schemeClr val="dk2"/>
                </a:solidFill>
              </a:rPr>
              <a:t>Handling Browsers in iOS</a:t>
            </a:r>
            <a:endParaRPr b="1" sz="2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g3a5fc222138_0_24"/>
          <p:cNvSpPr txBox="1"/>
          <p:nvPr/>
        </p:nvSpPr>
        <p:spPr>
          <a:xfrm>
            <a:off x="493150" y="394975"/>
            <a:ext cx="8256300" cy="302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50">
                <a:solidFill>
                  <a:schemeClr val="dk1"/>
                </a:solidFill>
              </a:rPr>
              <a:t>//Code to launch Safari browser in iOS</a:t>
            </a:r>
            <a:endParaRPr b="1" sz="1250">
              <a:solidFill>
                <a:schemeClr val="dk1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XCUITestOptions options = new XCUITestOptions();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options.setDeviceName("iPhone 15");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options.setPlatformVersion("17.0");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  <a:highlight>
                  <a:srgbClr val="FFFF00"/>
                </a:highlight>
              </a:rPr>
              <a:t>options.setCapability("browserName", "Safari");</a:t>
            </a:r>
            <a:endParaRPr sz="1250">
              <a:solidFill>
                <a:schemeClr val="dk1"/>
              </a:solidFill>
              <a:highlight>
                <a:srgbClr val="FFFF00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AppiumDriver driver = new IOSDriver(new URL("http://127.0.0.1:4723"), options);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driver.manage().timeouts().implicitlyWait(Duration.ofSeconds(10));</a:t>
            </a:r>
            <a:endParaRPr sz="1250">
              <a:solidFill>
                <a:schemeClr val="dk1"/>
              </a:solidFill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50">
                <a:solidFill>
                  <a:schemeClr val="dk1"/>
                </a:solidFill>
              </a:rPr>
              <a:t>driver.get("https://www.saucedemo.com/");</a:t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25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373" name="Google Shape;373;g3a5fc222138_0_24"/>
          <p:cNvSpPr txBox="1"/>
          <p:nvPr/>
        </p:nvSpPr>
        <p:spPr>
          <a:xfrm>
            <a:off x="0" y="3541325"/>
            <a:ext cx="8801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Note: </a:t>
            </a: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Perform below steps to stop any  password popup</a:t>
            </a:r>
            <a:endParaRPr sz="1200">
              <a:solidFill>
                <a:srgbClr val="0A0A0A"/>
              </a:solidFill>
              <a:highlight>
                <a:srgbClr val="FFFFFF"/>
              </a:highlight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A0A0A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</a:rPr>
              <a:t>Navigate to Settings &gt; Passwords &gt; Password Options, then turn off the switch next to AutoFill Passwords and Passkeys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